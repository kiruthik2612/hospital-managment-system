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20"/>
  </p:notesMasterIdLst>
  <p:sldIdLst>
    <p:sldId id="257" r:id="rId2"/>
    <p:sldId id="271" r:id="rId3"/>
    <p:sldId id="272" r:id="rId4"/>
    <p:sldId id="258" r:id="rId5"/>
    <p:sldId id="278" r:id="rId6"/>
    <p:sldId id="275" r:id="rId7"/>
    <p:sldId id="276" r:id="rId8"/>
    <p:sldId id="266" r:id="rId9"/>
    <p:sldId id="282" r:id="rId10"/>
    <p:sldId id="262" r:id="rId11"/>
    <p:sldId id="283" r:id="rId12"/>
    <p:sldId id="289" r:id="rId13"/>
    <p:sldId id="285" r:id="rId14"/>
    <p:sldId id="290" r:id="rId15"/>
    <p:sldId id="287" r:id="rId16"/>
    <p:sldId id="280" r:id="rId17"/>
    <p:sldId id="273" r:id="rId18"/>
    <p:sldId id="27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0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AA12E6-18CA-4942-BBF9-8FF92468677C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C7D2E1-DEA0-49B6-BAD8-879AA297AF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1163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27C68-139C-6421-1932-3622C332CA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7F02EF-BEB2-55D9-3D1A-727529D7D8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34696-3178-54DE-90FA-D590261E4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D6EAA-3F87-4ED6-9EDC-29BEBC008199}" type="datetime1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8E83B9-1105-06BA-C0FE-A650D1C64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A9A2C-474F-4A15-D0BA-B2FC32FF4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D0D84-539B-4681-ADF0-183B7BB4E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4290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006B6-ADE8-61C6-DF34-A12C157E7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BC0724-E867-F011-7D61-646FDB19B0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D234CF-69BE-A08B-D36C-7FBBC82F7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43E39-973A-40EE-A4E2-C9386EB8CE30}" type="datetime1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D532DA-56E4-CB3E-D0C9-6C34AB8C7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F4DEF9-80E8-09CE-4CC0-EBDD27218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D0D84-539B-4681-ADF0-183B7BB4E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6266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F0A37-C7B2-775B-8D60-2D2A62A0E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A1D90E-7E5B-2BEE-272A-935F04AE93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1FD31F-16C9-516F-2EF1-EB46CBDAF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05DD2-3486-407C-9B79-82FEA352CBEB}" type="datetime1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75B406-1657-C1E4-7E25-1C41E3DDE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EAB513-CABC-AE61-8B78-D696B6031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D0D84-539B-4681-ADF0-183B7BB4E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251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7C6AF-182D-7FEB-3FDC-D650DB11E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95326-C26F-B7CC-6E11-26408F003E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3CD1F6-82C2-EFD6-59EE-17B14F9697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B84ED3-9130-F23C-4668-3D30FBB55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11C19-F223-45E9-9B2F-5DDEC26EA7F2}" type="datetime1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26BF7C-32C0-52A6-2B3D-E28B1C06B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ADA13B-2A54-DB54-7766-A28FC1E43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D0D84-539B-4681-ADF0-183B7BB4E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858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3654C-4F7F-7EA8-8A61-868EF8780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30139-FEA3-782E-1E07-47DA6594F5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2469C9-987E-2ADB-B812-510081FD3F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58B833-9DA7-E8BB-903F-76E389A17E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5FD085-6A34-CC6D-DE5F-13F8019B59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A46BE7-1994-BF37-711E-1F96B4CE2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0FF68-551C-4F63-B61C-1D24098C4A5E}" type="datetime1">
              <a:rPr lang="en-IN" smtClean="0"/>
              <a:t>10-12-2025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18F3C6-B48F-6CD3-F8F8-C3B2D8326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B24327-949D-F8FC-F5A0-8E1C105FB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D0D84-539B-4681-ADF0-183B7BB4E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7586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F3BCB-889E-12E0-633C-FD9F54741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405F01-67BC-7B96-E781-2B2545A78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3A4E3-2AEF-4A39-9C7B-D4BA9745211E}" type="datetime1">
              <a:rPr lang="en-IN" smtClean="0"/>
              <a:t>10-12-2025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5F803B-920F-0A4F-5BA7-0CA0960F2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F631C3-C373-5A0E-29D9-2C1B0A735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D0D84-539B-4681-ADF0-183B7BB4E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5404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E6CA11-8289-7C92-FDA0-9588F1183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E1AAC-38A6-4DC2-BD2D-9AB3D3A2EAA8}" type="datetime1">
              <a:rPr lang="en-IN" smtClean="0"/>
              <a:t>10-12-2025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3A3BF8-16EA-7F7B-DB81-56D0A18AD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A6BB9E-8969-05BB-E048-E4D64D2C2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D0D84-539B-4681-ADF0-183B7BB4E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2105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D0BB2-CF7E-2478-07F7-0B8DB686A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BFCFF-84FF-5B22-AE4B-E37FF89A57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4559D9-526E-41AA-FDB6-0D1CB96432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2A4AAE-9397-2B9D-3501-D30302D88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C52C8-5392-440C-8930-F10F99E931C0}" type="datetime1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E4EE93-F1F4-B353-6CD7-987EDCA32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B09B61-FA04-91A6-3F79-4B6B28E5C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D0D84-539B-4681-ADF0-183B7BB4E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1353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171F4-5ACE-3D6E-0BC1-1043689BF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4F31C5-995B-DB63-CC45-9045FF0F88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FFC547-A05A-E0E1-29C6-0B944487DE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8B5653-B267-A3F3-CF2B-516F1A06B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FF43D-11C9-45B8-BA6F-506A0B086E3E}" type="datetime1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95CAD8-11DB-E91A-FB22-EBCDAFA3F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B6AE8B-9644-0235-6A4F-A3B57CD23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D0D84-539B-4681-ADF0-183B7BB4E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1558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28A46-D9ED-CDDC-0F6B-F5B86F2D9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164F86-2A0C-D019-C8AE-8F4F68B7D4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283E07-3042-E84D-886D-24EED4DEE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BB5F5-59D2-454A-9180-A891A0AADAEF}" type="datetime1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602498-D338-A492-94EE-5B47DB859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CB486E-BAB6-A8E2-1BAE-BA5C2E040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D0D84-539B-4681-ADF0-183B7BB4E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0752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779132-5AE6-4CE6-C447-DAA937BD3F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D05859-37F5-17D3-9F2E-D2E1FD5F79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534730-E5D2-FF96-7EB2-7F252FFD5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2DE81-173C-4483-8283-12D3E6C1F726}" type="datetime1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671E8-5388-EACD-6B93-409F7D2F9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8769B0-8EA7-3E24-3AB5-E970765DB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D0D84-539B-4681-ADF0-183B7BB4E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7481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22DC5E-E3F3-F937-D2FF-7462A06D1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8E2617-7570-2977-F9BA-0ACC22B855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4111E7-28A2-A685-3470-EADAEDBEE3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E9DF15-6853-454A-86E0-695CD0040648}" type="datetime1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AE1ECB-B1E4-CDF3-F515-711EA1BC8F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28AE2-BA36-6C6B-528C-CFB55E6259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FD0D84-539B-4681-ADF0-183B7BB4E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0631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3" Type="http://schemas.openxmlformats.org/officeDocument/2006/relationships/slide" Target="slide4.xml"/><Relationship Id="rId7" Type="http://schemas.openxmlformats.org/officeDocument/2006/relationships/slide" Target="slide8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7.xml"/><Relationship Id="rId5" Type="http://schemas.openxmlformats.org/officeDocument/2006/relationships/slide" Target="slide6.xml"/><Relationship Id="rId10" Type="http://schemas.openxmlformats.org/officeDocument/2006/relationships/slide" Target="slide17.xml"/><Relationship Id="rId4" Type="http://schemas.openxmlformats.org/officeDocument/2006/relationships/slide" Target="slide5.xml"/><Relationship Id="rId9" Type="http://schemas.openxmlformats.org/officeDocument/2006/relationships/slide" Target="slide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slide" Target="slide2.xml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slide" Target="slide2.xml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" Target="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image" Target="../media/image2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slide" Target="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" Target="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1E00C14-0489-643E-66D8-A67C0E64C13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4719" y="541146"/>
            <a:ext cx="6950552" cy="46340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80033" y="1609344"/>
            <a:ext cx="8685657" cy="2149410"/>
          </a:xfrm>
        </p:spPr>
        <p:txBody>
          <a:bodyPr>
            <a:normAutofit/>
          </a:bodyPr>
          <a:lstStyle/>
          <a:p>
            <a:pPr algn="ctr"/>
            <a:r>
              <a:rPr sz="4800" b="1" dirty="0">
                <a:solidFill>
                  <a:srgbClr val="7030A0"/>
                </a:solidFill>
                <a:latin typeface="Book Antiqua" panose="02040602050305030304" pitchFamily="18" charset="0"/>
              </a:rPr>
              <a:t>Hospital Management System using MySQL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9744" y="5175218"/>
            <a:ext cx="7214616" cy="1481900"/>
          </a:xfrm>
        </p:spPr>
        <p:txBody>
          <a:bodyPr>
            <a:noAutofit/>
          </a:bodyPr>
          <a:lstStyle/>
          <a:p>
            <a:pPr algn="l"/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Book Antiqua" panose="02040602050305030304" pitchFamily="18" charset="0"/>
              </a:rPr>
              <a:t>Name:  </a:t>
            </a:r>
            <a:r>
              <a:rPr lang="en-US" sz="2000" b="1" dirty="0">
                <a:solidFill>
                  <a:schemeClr val="accent3">
                    <a:lumMod val="50000"/>
                  </a:schemeClr>
                </a:solidFill>
                <a:latin typeface="Book Antiqua" panose="02040602050305030304" pitchFamily="18" charset="0"/>
              </a:rPr>
              <a:t>Kiruthik </a:t>
            </a:r>
          </a:p>
          <a:p>
            <a:pPr algn="l"/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Book Antiqua" panose="02040602050305030304" pitchFamily="18" charset="0"/>
              </a:rPr>
              <a:t>Course: Data Science and ML with GenAI Advanced program</a:t>
            </a:r>
          </a:p>
          <a:p>
            <a:pPr algn="l"/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Book Antiqua" panose="02040602050305030304" pitchFamily="18" charset="0"/>
              </a:rPr>
              <a:t>Date: 19-09-2025</a:t>
            </a:r>
            <a:endParaRPr sz="2000" dirty="0">
              <a:solidFill>
                <a:schemeClr val="accent3">
                  <a:lumMod val="50000"/>
                </a:schemeClr>
              </a:solidFill>
              <a:latin typeface="Book Antiqua" panose="0204060205030503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AF5F79-B76F-8AB5-B8A8-FF0EE2341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D0D84-539B-4681-ADF0-183B7BB4E9ED}" type="slidenum">
              <a:rPr lang="en-IN" smtClean="0"/>
              <a:t>1</a:t>
            </a:fld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D43DA-5876-2B81-05C6-3B44C865E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848" y="91440"/>
            <a:ext cx="7055380" cy="1400530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Book Antiqua" panose="02040602050305030304" pitchFamily="18" charset="0"/>
              </a:rPr>
              <a:t>Contents</a:t>
            </a:r>
            <a:endParaRPr lang="en-IN" sz="3600" b="1" dirty="0">
              <a:latin typeface="Book Antiqua" panose="020406020503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278DD-6760-782B-27AD-08946A0CA2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456" y="1400530"/>
            <a:ext cx="10515600" cy="4351338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Book Antiqua" panose="02040602050305030304" pitchFamily="18" charset="0"/>
                <a:hlinkClick r:id="rId2" action="ppaction://hlinksldjump"/>
              </a:rPr>
              <a:t>Introduction</a:t>
            </a:r>
            <a:endParaRPr lang="en-US" sz="2000" dirty="0">
              <a:latin typeface="Book Antiqua" panose="02040602050305030304" pitchFamily="18" charset="0"/>
            </a:endParaRPr>
          </a:p>
          <a:p>
            <a:r>
              <a:rPr lang="en-US" sz="2000" dirty="0">
                <a:latin typeface="Book Antiqua" panose="02040602050305030304" pitchFamily="18" charset="0"/>
                <a:hlinkClick r:id="rId3" action="ppaction://hlinksldjump"/>
              </a:rPr>
              <a:t>Objectives</a:t>
            </a:r>
            <a:endParaRPr lang="en-US" sz="2000" dirty="0">
              <a:latin typeface="Book Antiqua" panose="02040602050305030304" pitchFamily="18" charset="0"/>
            </a:endParaRPr>
          </a:p>
          <a:p>
            <a:r>
              <a:rPr lang="en-US" sz="2000" dirty="0">
                <a:latin typeface="Book Antiqua" panose="02040602050305030304" pitchFamily="18" charset="0"/>
                <a:hlinkClick r:id="rId4" action="ppaction://hlinksldjump"/>
              </a:rPr>
              <a:t>Scope of the project</a:t>
            </a:r>
            <a:endParaRPr lang="en-US" sz="2000" dirty="0">
              <a:latin typeface="Book Antiqua" panose="02040602050305030304" pitchFamily="18" charset="0"/>
            </a:endParaRPr>
          </a:p>
          <a:p>
            <a:r>
              <a:rPr lang="en-US" sz="2000" dirty="0">
                <a:latin typeface="Book Antiqua" panose="02040602050305030304" pitchFamily="18" charset="0"/>
                <a:hlinkClick r:id="rId5" action="ppaction://hlinksldjump"/>
              </a:rPr>
              <a:t>Database design</a:t>
            </a:r>
            <a:endParaRPr lang="en-US" sz="2000" dirty="0">
              <a:latin typeface="Book Antiqua" panose="02040602050305030304" pitchFamily="18" charset="0"/>
            </a:endParaRPr>
          </a:p>
          <a:p>
            <a:r>
              <a:rPr lang="en-US" sz="2000" dirty="0">
                <a:latin typeface="Book Antiqua" panose="02040602050305030304" pitchFamily="18" charset="0"/>
                <a:hlinkClick r:id="rId6" action="ppaction://hlinksldjump"/>
              </a:rPr>
              <a:t>ER-Diagram</a:t>
            </a:r>
            <a:endParaRPr lang="en-US" sz="2000" dirty="0">
              <a:latin typeface="Book Antiqua" panose="02040602050305030304" pitchFamily="18" charset="0"/>
            </a:endParaRPr>
          </a:p>
          <a:p>
            <a:r>
              <a:rPr lang="en-US" sz="2000" dirty="0">
                <a:latin typeface="Book Antiqua" panose="02040602050305030304" pitchFamily="18" charset="0"/>
                <a:hlinkClick r:id="rId7" action="ppaction://hlinksldjump"/>
              </a:rPr>
              <a:t>Advanced Features</a:t>
            </a:r>
            <a:endParaRPr lang="en-US" sz="2000" dirty="0">
              <a:latin typeface="Book Antiqua" panose="02040602050305030304" pitchFamily="18" charset="0"/>
            </a:endParaRPr>
          </a:p>
          <a:p>
            <a:r>
              <a:rPr lang="en-US" sz="2000" dirty="0">
                <a:latin typeface="Book Antiqua" panose="02040602050305030304" pitchFamily="18" charset="0"/>
                <a:hlinkClick r:id="rId8" action="ppaction://hlinksldjump"/>
              </a:rPr>
              <a:t>Business requirements</a:t>
            </a:r>
            <a:endParaRPr lang="en-US" sz="2000" dirty="0">
              <a:latin typeface="Book Antiqua" panose="02040602050305030304" pitchFamily="18" charset="0"/>
            </a:endParaRPr>
          </a:p>
          <a:p>
            <a:r>
              <a:rPr lang="en-US" sz="2000" dirty="0">
                <a:latin typeface="Book Antiqua" panose="02040602050305030304" pitchFamily="18" charset="0"/>
                <a:hlinkClick r:id="rId9" action="ppaction://hlinksldjump"/>
              </a:rPr>
              <a:t>Conclusion</a:t>
            </a:r>
            <a:endParaRPr lang="en-US" sz="2000" dirty="0">
              <a:latin typeface="Book Antiqua" panose="02040602050305030304" pitchFamily="18" charset="0"/>
            </a:endParaRPr>
          </a:p>
          <a:p>
            <a:r>
              <a:rPr lang="en-US" sz="2000" dirty="0">
                <a:latin typeface="Book Antiqua" panose="02040602050305030304" pitchFamily="18" charset="0"/>
                <a:hlinkClick r:id="rId10" action="ppaction://hlinksldjump"/>
              </a:rPr>
              <a:t>Future scope</a:t>
            </a:r>
            <a:endParaRPr lang="en-US" sz="2000" dirty="0">
              <a:latin typeface="Book Antiqua" panose="02040602050305030304" pitchFamily="18" charset="0"/>
            </a:endParaRPr>
          </a:p>
          <a:p>
            <a:pPr marL="0" indent="0">
              <a:buNone/>
            </a:pPr>
            <a:endParaRPr lang="en-US" sz="2000" dirty="0">
              <a:latin typeface="Book Antiqua" panose="02040602050305030304" pitchFamily="18" charset="0"/>
            </a:endParaRPr>
          </a:p>
          <a:p>
            <a:endParaRPr lang="en-US" sz="2000" dirty="0">
              <a:latin typeface="Book Antiqua" panose="02040602050305030304" pitchFamily="18" charset="0"/>
            </a:endParaRPr>
          </a:p>
          <a:p>
            <a:endParaRPr lang="en-US" sz="2000" dirty="0">
              <a:latin typeface="Book Antiqua" panose="02040602050305030304" pitchFamily="18" charset="0"/>
            </a:endParaRPr>
          </a:p>
          <a:p>
            <a:endParaRPr lang="en-IN" sz="2000" dirty="0">
              <a:latin typeface="Book Antiqua" panose="0204060205030503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784D98-892C-D127-A641-324B6A2BA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D0D84-539B-4681-ADF0-183B7BB4E9ED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2251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593" y="1325880"/>
            <a:ext cx="10939271" cy="40507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dirty="0">
                <a:latin typeface="Book Antiqua" panose="02040602050305030304" pitchFamily="18" charset="0"/>
                <a:cs typeface="Times New Roman" panose="02020603050405020304" pitchFamily="18" charset="0"/>
              </a:rPr>
              <a:t>The </a:t>
            </a:r>
            <a:r>
              <a:rPr lang="en-IN" sz="2000" b="1" dirty="0">
                <a:latin typeface="Book Antiqua" panose="02040602050305030304" pitchFamily="18" charset="0"/>
                <a:cs typeface="Times New Roman" panose="02020603050405020304" pitchFamily="18" charset="0"/>
              </a:rPr>
              <a:t>Hospital Management System (HMS)</a:t>
            </a:r>
            <a:r>
              <a:rPr lang="en-IN" sz="2000" dirty="0">
                <a:latin typeface="Book Antiqua" panose="02040602050305030304" pitchFamily="18" charset="0"/>
                <a:cs typeface="Times New Roman" panose="02020603050405020304" pitchFamily="18" charset="0"/>
              </a:rPr>
              <a:t> is a database project that is designed to manage all operations of a hospital digitally. It handles </a:t>
            </a:r>
            <a:r>
              <a:rPr lang="en-IN" sz="2000" b="1" dirty="0">
                <a:latin typeface="Book Antiqua" panose="02040602050305030304" pitchFamily="18" charset="0"/>
                <a:cs typeface="Times New Roman" panose="02020603050405020304" pitchFamily="18" charset="0"/>
              </a:rPr>
              <a:t>patients, doctors, appointments, prescriptions, billing, and pharmacy inventory</a:t>
            </a:r>
            <a:r>
              <a:rPr lang="en-IN" sz="2000" dirty="0">
                <a:latin typeface="Book Antiqua" panose="02040602050305030304" pitchFamily="18" charset="0"/>
                <a:cs typeface="Times New Roman" panose="02020603050405020304" pitchFamily="18" charset="0"/>
              </a:rPr>
              <a:t>. The goal is to provide a </a:t>
            </a:r>
            <a:r>
              <a:rPr lang="en-IN" sz="2000" b="1" dirty="0">
                <a:latin typeface="Book Antiqua" panose="02040602050305030304" pitchFamily="18" charset="0"/>
                <a:cs typeface="Times New Roman" panose="02020603050405020304" pitchFamily="18" charset="0"/>
              </a:rPr>
              <a:t>centralized database</a:t>
            </a:r>
            <a:r>
              <a:rPr lang="en-IN" sz="2000" dirty="0">
                <a:latin typeface="Book Antiqua" panose="02040602050305030304" pitchFamily="18" charset="0"/>
                <a:cs typeface="Times New Roman" panose="02020603050405020304" pitchFamily="18" charset="0"/>
              </a:rPr>
              <a:t> where staff can store, update, and retrieve data easily. </a:t>
            </a:r>
            <a:r>
              <a:rPr sz="2000" dirty="0">
                <a:latin typeface="Book Antiqua" panose="02040602050305030304" pitchFamily="18" charset="0"/>
              </a:rPr>
              <a:t>Hospitals deal with huge data (patients, doctors, billing)</a:t>
            </a:r>
            <a:r>
              <a:rPr lang="en-US" sz="2000" dirty="0">
                <a:latin typeface="Book Antiqua" panose="02040602050305030304" pitchFamily="18" charset="0"/>
              </a:rPr>
              <a:t> in which </a:t>
            </a:r>
            <a:r>
              <a:rPr lang="en-IN" sz="2000" dirty="0">
                <a:latin typeface="Book Antiqua" panose="02040602050305030304" pitchFamily="18" charset="0"/>
              </a:rPr>
              <a:t>manual records are error-prone.</a:t>
            </a:r>
          </a:p>
          <a:p>
            <a:pPr marL="0" indent="0">
              <a:buNone/>
            </a:pPr>
            <a:r>
              <a:rPr lang="en-IN" sz="2000" dirty="0">
                <a:latin typeface="Book Antiqua" panose="02040602050305030304" pitchFamily="18" charset="0"/>
                <a:cs typeface="Times New Roman" panose="02020603050405020304" pitchFamily="18" charset="0"/>
              </a:rPr>
              <a:t>So the system is designed to:</a:t>
            </a:r>
          </a:p>
          <a:p>
            <a:pPr lvl="1"/>
            <a:r>
              <a:rPr lang="en-IN" sz="2000" dirty="0">
                <a:latin typeface="Book Antiqua" panose="02040602050305030304" pitchFamily="18" charset="0"/>
                <a:cs typeface="Times New Roman" panose="02020603050405020304" pitchFamily="18" charset="0"/>
              </a:rPr>
              <a:t>Reduce manual paperwork.</a:t>
            </a:r>
          </a:p>
          <a:p>
            <a:pPr lvl="1"/>
            <a:r>
              <a:rPr lang="en-IN" sz="2000" dirty="0">
                <a:latin typeface="Book Antiqua" panose="02040602050305030304" pitchFamily="18" charset="0"/>
                <a:cs typeface="Times New Roman" panose="02020603050405020304" pitchFamily="18" charset="0"/>
              </a:rPr>
              <a:t>Improve patient care by centralizing information.</a:t>
            </a:r>
          </a:p>
          <a:p>
            <a:pPr lvl="1"/>
            <a:r>
              <a:rPr lang="en-IN" sz="2000" dirty="0">
                <a:latin typeface="Book Antiqua" panose="02040602050305030304" pitchFamily="18" charset="0"/>
                <a:cs typeface="Times New Roman" panose="02020603050405020304" pitchFamily="18" charset="0"/>
              </a:rPr>
              <a:t>Automate repetitive tasks (like billing, inventory, room allocation).</a:t>
            </a:r>
          </a:p>
          <a:p>
            <a:pPr lvl="1"/>
            <a:r>
              <a:rPr lang="en-IN" sz="2000" dirty="0">
                <a:latin typeface="Book Antiqua" panose="02040602050305030304" pitchFamily="18" charset="0"/>
                <a:cs typeface="Times New Roman" panose="02020603050405020304" pitchFamily="18" charset="0"/>
              </a:rPr>
              <a:t>Provide instant reporting and analytics for hospital administration.</a:t>
            </a:r>
          </a:p>
          <a:p>
            <a:pPr marL="342900" lvl="1" indent="0">
              <a:buNone/>
            </a:pPr>
            <a:endParaRPr sz="2000" dirty="0">
              <a:latin typeface="Book Antiqua" panose="0204060205030503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7DEB309-5A94-9B05-F0DD-85D5A614797E}"/>
              </a:ext>
            </a:extLst>
          </p:cNvPr>
          <p:cNvSpPr txBox="1">
            <a:spLocks/>
          </p:cNvSpPr>
          <p:nvPr/>
        </p:nvSpPr>
        <p:spPr>
          <a:xfrm>
            <a:off x="243840" y="-27432"/>
            <a:ext cx="7110244" cy="14005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b="1" dirty="0">
                <a:latin typeface="Book Antiqua" panose="02040602050305030304" pitchFamily="18" charset="0"/>
              </a:rPr>
              <a:t>Introduction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64A6AB-4321-72FD-7B8D-EF56BB305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D0D84-539B-4681-ADF0-183B7BB4E9ED}" type="slidenum">
              <a:rPr lang="en-IN" smtClean="0"/>
              <a:t>3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CC654A-2A56-21F4-FF06-AEE8C4CDA6A2}"/>
              </a:ext>
            </a:extLst>
          </p:cNvPr>
          <p:cNvSpPr txBox="1"/>
          <p:nvPr/>
        </p:nvSpPr>
        <p:spPr>
          <a:xfrm>
            <a:off x="10396728" y="6048573"/>
            <a:ext cx="14447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B050"/>
                </a:solidFill>
                <a:latin typeface="Book Antiqua" panose="02040602050305030304" pitchFamily="18" charset="0"/>
                <a:hlinkClick r:id="rId2" action="ppaction://hlinksldjump"/>
              </a:rPr>
              <a:t>Go to Contents</a:t>
            </a:r>
            <a:endParaRPr lang="en-IN" sz="1400" dirty="0">
              <a:solidFill>
                <a:srgbClr val="00B050"/>
              </a:solidFill>
              <a:latin typeface="Book Antiqua" panose="0204060205030503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3635" y="1489773"/>
            <a:ext cx="8238341" cy="3511995"/>
          </a:xfrm>
        </p:spPr>
        <p:txBody>
          <a:bodyPr>
            <a:noAutofit/>
          </a:bodyPr>
          <a:lstStyle/>
          <a:p>
            <a:pPr lvl="0"/>
            <a:r>
              <a:rPr lang="en-IN" sz="2000" dirty="0">
                <a:latin typeface="Book Antiqua" panose="02040602050305030304" pitchFamily="18" charset="0"/>
              </a:rPr>
              <a:t>Maintain accurate </a:t>
            </a:r>
            <a:r>
              <a:rPr lang="en-IN" sz="2000" b="1" dirty="0">
                <a:latin typeface="Book Antiqua" panose="02040602050305030304" pitchFamily="18" charset="0"/>
              </a:rPr>
              <a:t>patient and doctor records</a:t>
            </a:r>
            <a:r>
              <a:rPr lang="en-IN" sz="2000" dirty="0">
                <a:latin typeface="Book Antiqua" panose="02040602050305030304" pitchFamily="18" charset="0"/>
              </a:rPr>
              <a:t>.</a:t>
            </a:r>
          </a:p>
          <a:p>
            <a:pPr lvl="0"/>
            <a:r>
              <a:rPr lang="en-IN" sz="2000" dirty="0">
                <a:latin typeface="Book Antiqua" panose="02040602050305030304" pitchFamily="18" charset="0"/>
              </a:rPr>
              <a:t>Keeping track of </a:t>
            </a:r>
            <a:r>
              <a:rPr lang="en-IN" sz="2000" b="1" dirty="0">
                <a:latin typeface="Book Antiqua" panose="02040602050305030304" pitchFamily="18" charset="0"/>
              </a:rPr>
              <a:t>prescriptions and medicines</a:t>
            </a:r>
            <a:r>
              <a:rPr lang="en-IN" sz="2000" dirty="0">
                <a:latin typeface="Book Antiqua" panose="02040602050305030304" pitchFamily="18" charset="0"/>
              </a:rPr>
              <a:t>.</a:t>
            </a:r>
          </a:p>
          <a:p>
            <a:pPr lvl="0"/>
            <a:r>
              <a:rPr lang="en-IN" sz="2000" dirty="0">
                <a:latin typeface="Book Antiqua" panose="02040602050305030304" pitchFamily="18" charset="0"/>
              </a:rPr>
              <a:t>Generate </a:t>
            </a:r>
            <a:r>
              <a:rPr lang="en-IN" sz="2000" b="1" dirty="0">
                <a:latin typeface="Book Antiqua" panose="02040602050305030304" pitchFamily="18" charset="0"/>
              </a:rPr>
              <a:t>billing details </a:t>
            </a:r>
            <a:r>
              <a:rPr lang="en-IN" sz="2000" dirty="0">
                <a:latin typeface="Book Antiqua" panose="02040602050305030304" pitchFamily="18" charset="0"/>
              </a:rPr>
              <a:t>for patients.</a:t>
            </a:r>
          </a:p>
          <a:p>
            <a:pPr lvl="0"/>
            <a:r>
              <a:rPr lang="en-IN" sz="2000" dirty="0">
                <a:latin typeface="Book Antiqua" panose="02040602050305030304" pitchFamily="18" charset="0"/>
              </a:rPr>
              <a:t>Track </a:t>
            </a:r>
            <a:r>
              <a:rPr lang="en-IN" sz="2000" b="1" dirty="0">
                <a:latin typeface="Book Antiqua" panose="02040602050305030304" pitchFamily="18" charset="0"/>
              </a:rPr>
              <a:t>appointments, admissions, and discharges</a:t>
            </a:r>
            <a:r>
              <a:rPr lang="en-IN" sz="2000" dirty="0">
                <a:latin typeface="Book Antiqua" panose="02040602050305030304" pitchFamily="18" charset="0"/>
              </a:rPr>
              <a:t>.</a:t>
            </a:r>
          </a:p>
          <a:p>
            <a:pPr lvl="0"/>
            <a:r>
              <a:rPr lang="en-IN" sz="2000" dirty="0">
                <a:latin typeface="Book Antiqua" panose="02040602050305030304" pitchFamily="18" charset="0"/>
              </a:rPr>
              <a:t>Keep </a:t>
            </a:r>
            <a:r>
              <a:rPr lang="en-IN" sz="2000" b="1" dirty="0">
                <a:latin typeface="Book Antiqua" panose="02040602050305030304" pitchFamily="18" charset="0"/>
              </a:rPr>
              <a:t>pharmacy and inventory</a:t>
            </a:r>
            <a:r>
              <a:rPr lang="en-IN" sz="2000" dirty="0">
                <a:latin typeface="Book Antiqua" panose="02040602050305030304" pitchFamily="18" charset="0"/>
              </a:rPr>
              <a:t> up to date.</a:t>
            </a:r>
          </a:p>
          <a:p>
            <a:r>
              <a:rPr lang="en-US" sz="2000" dirty="0">
                <a:latin typeface="Book Antiqua" panose="02040602050305030304" pitchFamily="18" charset="0"/>
              </a:rPr>
              <a:t>Automate tasks with </a:t>
            </a:r>
            <a:r>
              <a:rPr lang="en-US" sz="2000" b="1" dirty="0">
                <a:latin typeface="Book Antiqua" panose="02040602050305030304" pitchFamily="18" charset="0"/>
              </a:rPr>
              <a:t>procedures, triggers, events.</a:t>
            </a:r>
          </a:p>
          <a:p>
            <a:pPr lvl="0"/>
            <a:r>
              <a:rPr lang="en-IN" sz="2000" dirty="0">
                <a:latin typeface="Book Antiqua" panose="02040602050305030304" pitchFamily="18" charset="0"/>
              </a:rPr>
              <a:t>Ensure </a:t>
            </a:r>
            <a:r>
              <a:rPr lang="en-IN" sz="2000" b="1" dirty="0">
                <a:latin typeface="Book Antiqua" panose="02040602050305030304" pitchFamily="18" charset="0"/>
              </a:rPr>
              <a:t>data security</a:t>
            </a:r>
            <a:r>
              <a:rPr lang="en-IN" sz="2000" dirty="0">
                <a:latin typeface="Book Antiqua" panose="02040602050305030304" pitchFamily="18" charset="0"/>
              </a:rPr>
              <a:t> and prevent duplication.</a:t>
            </a:r>
          </a:p>
          <a:p>
            <a:pPr lvl="0"/>
            <a:r>
              <a:rPr lang="en-IN" sz="2000" dirty="0">
                <a:latin typeface="Book Antiqua" panose="02040602050305030304" pitchFamily="18" charset="0"/>
              </a:rPr>
              <a:t>Provide </a:t>
            </a:r>
            <a:r>
              <a:rPr lang="en-IN" sz="2000" b="1" dirty="0">
                <a:latin typeface="Book Antiqua" panose="02040602050305030304" pitchFamily="18" charset="0"/>
              </a:rPr>
              <a:t>automation</a:t>
            </a:r>
            <a:r>
              <a:rPr lang="en-IN" sz="2000" dirty="0">
                <a:latin typeface="Book Antiqua" panose="02040602050305030304" pitchFamily="18" charset="0"/>
              </a:rPr>
              <a:t> using triggers, procedures, and constraints.</a:t>
            </a:r>
          </a:p>
          <a:p>
            <a:pPr lvl="0"/>
            <a:endParaRPr lang="en-IN" sz="2000" dirty="0">
              <a:latin typeface="Book Antiqua" panose="02040602050305030304" pitchFamily="18" charset="0"/>
            </a:endParaRPr>
          </a:p>
          <a:p>
            <a:endParaRPr sz="2000" dirty="0">
              <a:latin typeface="Book Antiqua" panose="0204060205030503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443D389-88D7-5B71-2BFF-2C2A7D66A430}"/>
              </a:ext>
            </a:extLst>
          </p:cNvPr>
          <p:cNvSpPr txBox="1">
            <a:spLocks/>
          </p:cNvSpPr>
          <p:nvPr/>
        </p:nvSpPr>
        <p:spPr>
          <a:xfrm>
            <a:off x="216408" y="36576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b="1" dirty="0">
                <a:latin typeface="Book Antiqua" panose="02040602050305030304" pitchFamily="18" charset="0"/>
              </a:rPr>
              <a:t>Objectives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F98BB3-A32D-B79F-07C6-680FF0A68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D0D84-539B-4681-ADF0-183B7BB4E9ED}" type="slidenum">
              <a:rPr lang="en-IN" smtClean="0"/>
              <a:t>4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FB52A5-24F9-C707-2B02-61BAB3988309}"/>
              </a:ext>
            </a:extLst>
          </p:cNvPr>
          <p:cNvSpPr txBox="1"/>
          <p:nvPr/>
        </p:nvSpPr>
        <p:spPr>
          <a:xfrm>
            <a:off x="10396728" y="6048573"/>
            <a:ext cx="14447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B050"/>
                </a:solidFill>
                <a:latin typeface="Book Antiqua" panose="02040602050305030304" pitchFamily="18" charset="0"/>
                <a:hlinkClick r:id="rId2" action="ppaction://hlinksldjump"/>
              </a:rPr>
              <a:t>Go to Contents</a:t>
            </a:r>
            <a:endParaRPr lang="en-IN" sz="1400" dirty="0">
              <a:solidFill>
                <a:srgbClr val="00B050"/>
              </a:solidFill>
              <a:latin typeface="Book Antiqua" panose="0204060205030503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150D0-0E7F-0F35-11EE-EE6D2CF0BB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5795" y="1644875"/>
            <a:ext cx="10604205" cy="4362733"/>
          </a:xfrm>
        </p:spPr>
        <p:txBody>
          <a:bodyPr>
            <a:noAutofit/>
          </a:bodyPr>
          <a:lstStyle/>
          <a:p>
            <a:r>
              <a:rPr lang="en-US" sz="2000" b="1" dirty="0">
                <a:latin typeface="Book Antiqua" panose="02040602050305030304" pitchFamily="18" charset="0"/>
              </a:rPr>
              <a:t>Patient Management</a:t>
            </a:r>
            <a:r>
              <a:rPr lang="en-US" sz="2000" dirty="0">
                <a:latin typeface="Book Antiqua" panose="02040602050305030304" pitchFamily="18" charset="0"/>
              </a:rPr>
              <a:t> – Registration, records, admissions, discharges.</a:t>
            </a:r>
          </a:p>
          <a:p>
            <a:r>
              <a:rPr lang="en-US" sz="2000" b="1" dirty="0">
                <a:latin typeface="Book Antiqua" panose="02040602050305030304" pitchFamily="18" charset="0"/>
              </a:rPr>
              <a:t>Doctor &amp; Staff Management</a:t>
            </a:r>
            <a:r>
              <a:rPr lang="en-US" sz="2000" dirty="0">
                <a:latin typeface="Book Antiqua" panose="02040602050305030304" pitchFamily="18" charset="0"/>
              </a:rPr>
              <a:t> – Profiles, schedules, role assignments.</a:t>
            </a:r>
          </a:p>
          <a:p>
            <a:r>
              <a:rPr lang="en-US" sz="2000" b="1" dirty="0">
                <a:latin typeface="Book Antiqua" panose="02040602050305030304" pitchFamily="18" charset="0"/>
              </a:rPr>
              <a:t>Appointments &amp; Admissions</a:t>
            </a:r>
            <a:r>
              <a:rPr lang="en-US" sz="2000" dirty="0">
                <a:latin typeface="Book Antiqua" panose="02040602050305030304" pitchFamily="18" charset="0"/>
              </a:rPr>
              <a:t> – Booking, scheduling, room allocation.</a:t>
            </a:r>
          </a:p>
          <a:p>
            <a:r>
              <a:rPr lang="en-US" sz="2000" b="1" dirty="0">
                <a:latin typeface="Book Antiqua" panose="02040602050305030304" pitchFamily="18" charset="0"/>
              </a:rPr>
              <a:t>Prescriptions &amp; Pharmacy</a:t>
            </a:r>
            <a:r>
              <a:rPr lang="en-US" sz="2000" dirty="0">
                <a:latin typeface="Book Antiqua" panose="02040602050305030304" pitchFamily="18" charset="0"/>
              </a:rPr>
              <a:t> – Digital prescriptions, medicine inventory, stock updates.</a:t>
            </a:r>
          </a:p>
          <a:p>
            <a:r>
              <a:rPr lang="en-US" sz="2000" b="1" dirty="0">
                <a:latin typeface="Book Antiqua" panose="02040602050305030304" pitchFamily="18" charset="0"/>
              </a:rPr>
              <a:t>Billing &amp; Payments</a:t>
            </a:r>
            <a:r>
              <a:rPr lang="en-US" sz="2000" dirty="0">
                <a:latin typeface="Book Antiqua" panose="02040602050305030304" pitchFamily="18" charset="0"/>
              </a:rPr>
              <a:t> – Automated bills, multiple payment modes, financial tracking.</a:t>
            </a:r>
          </a:p>
          <a:p>
            <a:r>
              <a:rPr lang="en-US" sz="2000" b="1" dirty="0">
                <a:latin typeface="Book Antiqua" panose="02040602050305030304" pitchFamily="18" charset="0"/>
              </a:rPr>
              <a:t>Reports &amp; Analytics</a:t>
            </a:r>
            <a:r>
              <a:rPr lang="en-US" sz="2000" dirty="0">
                <a:latin typeface="Book Antiqua" panose="02040602050305030304" pitchFamily="18" charset="0"/>
              </a:rPr>
              <a:t> – Medical, administrative, inventory, and revenue reports.</a:t>
            </a:r>
          </a:p>
          <a:p>
            <a:r>
              <a:rPr lang="en-US" sz="2000" b="1" dirty="0">
                <a:latin typeface="Book Antiqua" panose="02040602050305030304" pitchFamily="18" charset="0"/>
              </a:rPr>
              <a:t>Security &amp; Access Control</a:t>
            </a:r>
            <a:r>
              <a:rPr lang="en-US" sz="2000" dirty="0">
                <a:latin typeface="Book Antiqua" panose="02040602050305030304" pitchFamily="18" charset="0"/>
              </a:rPr>
              <a:t> – Role-based access, data privacy.</a:t>
            </a:r>
          </a:p>
          <a:p>
            <a:r>
              <a:rPr lang="en-US" sz="2000" b="1" dirty="0">
                <a:latin typeface="Book Antiqua" panose="02040602050305030304" pitchFamily="18" charset="0"/>
              </a:rPr>
              <a:t>Future Enhancements</a:t>
            </a:r>
            <a:r>
              <a:rPr lang="en-US" sz="2000" dirty="0">
                <a:latin typeface="Book Antiqua" panose="02040602050305030304" pitchFamily="18" charset="0"/>
              </a:rPr>
              <a:t> – Telemedicine, device integration, AI support.</a:t>
            </a:r>
          </a:p>
          <a:p>
            <a:endParaRPr lang="en-IN" sz="2000" dirty="0">
              <a:latin typeface="Book Antiqua" panose="0204060205030503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C0F014C-2837-682E-A719-BD85894EF9AE}"/>
              </a:ext>
            </a:extLst>
          </p:cNvPr>
          <p:cNvSpPr txBox="1">
            <a:spLocks/>
          </p:cNvSpPr>
          <p:nvPr/>
        </p:nvSpPr>
        <p:spPr>
          <a:xfrm>
            <a:off x="234696" y="27432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Book Antiqua" panose="02040602050305030304" pitchFamily="18" charset="0"/>
              </a:rPr>
              <a:t>Scope of the Project</a:t>
            </a:r>
            <a:endParaRPr lang="en-IN" sz="3600" b="1" dirty="0">
              <a:latin typeface="Book Antiqua" panose="0204060205030503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E224B8-92D7-ED23-A296-2C2B6C91F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D0D84-539B-4681-ADF0-183B7BB4E9ED}" type="slidenum">
              <a:rPr lang="en-IN" smtClean="0"/>
              <a:t>5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1AE293-D211-F740-95F8-1B18A9B5FF28}"/>
              </a:ext>
            </a:extLst>
          </p:cNvPr>
          <p:cNvSpPr txBox="1"/>
          <p:nvPr/>
        </p:nvSpPr>
        <p:spPr>
          <a:xfrm>
            <a:off x="10396728" y="6048573"/>
            <a:ext cx="14447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B050"/>
                </a:solidFill>
                <a:latin typeface="Book Antiqua" panose="02040602050305030304" pitchFamily="18" charset="0"/>
                <a:hlinkClick r:id="rId2" action="ppaction://hlinksldjump"/>
              </a:rPr>
              <a:t>Go to Contents</a:t>
            </a:r>
            <a:endParaRPr lang="en-IN" sz="1400" dirty="0">
              <a:solidFill>
                <a:srgbClr val="00B050"/>
              </a:solidFill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93643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5201B-1C12-1B18-CEA3-C7E971722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0585" y="329845"/>
            <a:ext cx="7055380" cy="822681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 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500940-15CC-6543-BD95-4D1C1165B5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65976" y="1514475"/>
            <a:ext cx="5005655" cy="4890807"/>
          </a:xfrm>
        </p:spPr>
        <p:txBody>
          <a:bodyPr>
            <a:noAutofit/>
          </a:bodyPr>
          <a:lstStyle/>
          <a:p>
            <a:r>
              <a:rPr lang="en-IN" sz="1600" b="1" dirty="0">
                <a:latin typeface="Book Antiqua" panose="02040602050305030304" pitchFamily="18" charset="0"/>
              </a:rPr>
              <a:t>Pharmacy inventory </a:t>
            </a:r>
            <a:r>
              <a:rPr lang="en-IN" sz="1600" dirty="0">
                <a:latin typeface="Book Antiqua" panose="02040602050305030304" pitchFamily="18" charset="0"/>
              </a:rPr>
              <a:t>- Maintains stock of medicines.</a:t>
            </a:r>
            <a:endParaRPr lang="en-US" sz="1600" b="1" dirty="0">
              <a:latin typeface="Book Antiqua" panose="02040602050305030304" pitchFamily="18" charset="0"/>
            </a:endParaRPr>
          </a:p>
          <a:p>
            <a:r>
              <a:rPr lang="en-US" sz="1600" b="1" dirty="0">
                <a:latin typeface="Book Antiqua" panose="02040602050305030304" pitchFamily="18" charset="0"/>
              </a:rPr>
              <a:t> </a:t>
            </a:r>
            <a:r>
              <a:rPr lang="en-IN" sz="1600" b="1" dirty="0">
                <a:latin typeface="Book Antiqua" panose="02040602050305030304" pitchFamily="18" charset="0"/>
              </a:rPr>
              <a:t>Prescriptions </a:t>
            </a:r>
            <a:r>
              <a:rPr lang="en-IN" sz="1600" dirty="0">
                <a:latin typeface="Book Antiqua" panose="02040602050305030304" pitchFamily="18" charset="0"/>
              </a:rPr>
              <a:t>- Records prescribed medicines.</a:t>
            </a:r>
          </a:p>
          <a:p>
            <a:r>
              <a:rPr lang="en-IN" sz="1600" b="1" dirty="0">
                <a:latin typeface="Book Antiqua" panose="02040602050305030304" pitchFamily="18" charset="0"/>
              </a:rPr>
              <a:t>Rooms</a:t>
            </a:r>
            <a:r>
              <a:rPr lang="en-IN" sz="1600" dirty="0">
                <a:latin typeface="Book Antiqua" panose="02040602050305030304" pitchFamily="18" charset="0"/>
              </a:rPr>
              <a:t> - </a:t>
            </a:r>
            <a:r>
              <a:rPr lang="en-US" sz="1600" dirty="0">
                <a:latin typeface="Book Antiqua" panose="02040602050305030304" pitchFamily="18" charset="0"/>
              </a:rPr>
              <a:t>Manages room allocation and availability in the hospital.</a:t>
            </a:r>
            <a:endParaRPr lang="en-IN" sz="1600" dirty="0">
              <a:latin typeface="Book Antiqua" panose="02040602050305030304" pitchFamily="18" charset="0"/>
            </a:endParaRPr>
          </a:p>
          <a:p>
            <a:r>
              <a:rPr lang="en-IN" sz="1600" b="1" dirty="0">
                <a:latin typeface="Book Antiqua" panose="02040602050305030304" pitchFamily="18" charset="0"/>
              </a:rPr>
              <a:t>Staff </a:t>
            </a:r>
            <a:r>
              <a:rPr lang="en-IN" sz="1600" dirty="0">
                <a:latin typeface="Book Antiqua" panose="02040602050305030304" pitchFamily="18" charset="0"/>
              </a:rPr>
              <a:t>- Stores doctor details and specialization.</a:t>
            </a:r>
          </a:p>
          <a:p>
            <a:r>
              <a:rPr lang="en-IN" sz="1600" b="1" dirty="0">
                <a:latin typeface="Book Antiqua" panose="02040602050305030304" pitchFamily="18" charset="0"/>
              </a:rPr>
              <a:t>Supply orders </a:t>
            </a:r>
            <a:r>
              <a:rPr lang="en-IN" sz="1600" dirty="0">
                <a:latin typeface="Book Antiqua" panose="02040602050305030304" pitchFamily="18" charset="0"/>
              </a:rPr>
              <a:t>- </a:t>
            </a:r>
            <a:r>
              <a:rPr lang="en-US" sz="1600" dirty="0">
                <a:latin typeface="Book Antiqua" panose="02040602050305030304" pitchFamily="18" charset="0"/>
              </a:rPr>
              <a:t>Tracks orders of medical supplies/equipment.</a:t>
            </a:r>
            <a:endParaRPr lang="en-IN" sz="1600" dirty="0">
              <a:latin typeface="Book Antiqua" panose="02040602050305030304" pitchFamily="18" charset="0"/>
            </a:endParaRPr>
          </a:p>
          <a:p>
            <a:r>
              <a:rPr lang="en-IN" sz="1600" b="1" dirty="0">
                <a:latin typeface="Book Antiqua" panose="02040602050305030304" pitchFamily="18" charset="0"/>
              </a:rPr>
              <a:t>Tests</a:t>
            </a:r>
            <a:r>
              <a:rPr lang="en-IN" sz="1600" dirty="0">
                <a:latin typeface="Book Antiqua" panose="02040602050305030304" pitchFamily="18" charset="0"/>
              </a:rPr>
              <a:t> -  </a:t>
            </a:r>
            <a:r>
              <a:rPr lang="en-US" sz="1600" dirty="0">
                <a:latin typeface="Book Antiqua" panose="02040602050305030304" pitchFamily="18" charset="0"/>
              </a:rPr>
              <a:t>Records diagnostic tests (e.g., lab tests, imaging).</a:t>
            </a:r>
            <a:endParaRPr lang="en-IN" sz="1600" dirty="0">
              <a:latin typeface="Book Antiqua" panose="02040602050305030304" pitchFamily="18" charset="0"/>
            </a:endParaRPr>
          </a:p>
          <a:p>
            <a:r>
              <a:rPr lang="en-IN" sz="1600" b="1" dirty="0">
                <a:latin typeface="Book Antiqua" panose="02040602050305030304" pitchFamily="18" charset="0"/>
              </a:rPr>
              <a:t>Vitals</a:t>
            </a:r>
            <a:r>
              <a:rPr lang="en-IN" sz="1600" dirty="0">
                <a:latin typeface="Book Antiqua" panose="02040602050305030304" pitchFamily="18" charset="0"/>
              </a:rPr>
              <a:t> - Stores patient vitals (e.g., blood pressure, temperature).</a:t>
            </a:r>
            <a:endParaRPr lang="en-US" sz="1600" dirty="0">
              <a:latin typeface="Book Antiqua" panose="02040602050305030304" pitchFamily="18" charset="0"/>
            </a:endParaRPr>
          </a:p>
          <a:p>
            <a:pPr marL="0" indent="0">
              <a:buNone/>
            </a:pPr>
            <a:br>
              <a:rPr lang="en-IN" sz="1600" dirty="0">
                <a:latin typeface="Book Antiqua" panose="02040602050305030304" pitchFamily="18" charset="0"/>
              </a:rPr>
            </a:br>
            <a:endParaRPr lang="en-IN" sz="1600" dirty="0">
              <a:latin typeface="Book Antiqua" panose="02040602050305030304" pitchFamily="18" charset="0"/>
            </a:endParaRPr>
          </a:p>
          <a:p>
            <a:pPr marL="0" indent="0">
              <a:buNone/>
            </a:pPr>
            <a:endParaRPr lang="en-IN" sz="1600" dirty="0">
              <a:latin typeface="Book Antiqua" panose="0204060205030503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87F8A4-0BB1-2C08-4512-6DAA0A2A8B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0457" y="1152526"/>
            <a:ext cx="4819270" cy="525275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dirty="0">
                <a:solidFill>
                  <a:schemeClr val="accent1">
                    <a:lumMod val="75000"/>
                  </a:schemeClr>
                </a:solidFill>
                <a:latin typeface="Book Antiqua" panose="02040602050305030304" pitchFamily="18" charset="0"/>
              </a:rPr>
              <a:t>Entities:</a:t>
            </a:r>
            <a:endParaRPr lang="en-IN" sz="2400" dirty="0">
              <a:solidFill>
                <a:schemeClr val="accent1">
                  <a:lumMod val="75000"/>
                </a:schemeClr>
              </a:solidFill>
              <a:latin typeface="Book Antiqua" panose="02040602050305030304" pitchFamily="18" charset="0"/>
            </a:endParaRPr>
          </a:p>
          <a:p>
            <a:r>
              <a:rPr lang="en-IN" sz="1600" b="1" dirty="0">
                <a:latin typeface="Book Antiqua" panose="02040602050305030304" pitchFamily="18" charset="0"/>
              </a:rPr>
              <a:t>Admissions</a:t>
            </a:r>
            <a:r>
              <a:rPr lang="en-IN" sz="1600" dirty="0">
                <a:latin typeface="Book Antiqua" panose="02040602050305030304" pitchFamily="18" charset="0"/>
              </a:rPr>
              <a:t> - </a:t>
            </a:r>
            <a:r>
              <a:rPr lang="en-US" sz="1600" dirty="0">
                <a:latin typeface="Book Antiqua" panose="02040602050305030304" pitchFamily="18" charset="0"/>
              </a:rPr>
              <a:t>Manages patient admissions into the hospital.</a:t>
            </a:r>
            <a:endParaRPr lang="en-IN" sz="1600" dirty="0">
              <a:latin typeface="Book Antiqua" panose="02040602050305030304" pitchFamily="18" charset="0"/>
            </a:endParaRPr>
          </a:p>
          <a:p>
            <a:r>
              <a:rPr lang="en-IN" sz="1600" b="1" dirty="0">
                <a:latin typeface="Book Antiqua" panose="02040602050305030304" pitchFamily="18" charset="0"/>
              </a:rPr>
              <a:t>Alerts</a:t>
            </a:r>
            <a:r>
              <a:rPr lang="en-IN" sz="1600" dirty="0">
                <a:latin typeface="Book Antiqua" panose="02040602050305030304" pitchFamily="18" charset="0"/>
              </a:rPr>
              <a:t> - Stores system-generated alerts (e.g., critical vitals, medicine reminders).</a:t>
            </a:r>
          </a:p>
          <a:p>
            <a:r>
              <a:rPr lang="en-IN" sz="1600" b="1" dirty="0">
                <a:latin typeface="Book Antiqua" panose="02040602050305030304" pitchFamily="18" charset="0"/>
              </a:rPr>
              <a:t>Appointments</a:t>
            </a:r>
            <a:r>
              <a:rPr lang="en-IN" sz="1600" dirty="0">
                <a:latin typeface="Book Antiqua" panose="02040602050305030304" pitchFamily="18" charset="0"/>
              </a:rPr>
              <a:t> - Links patients with doctors.</a:t>
            </a:r>
          </a:p>
          <a:p>
            <a:r>
              <a:rPr lang="en-IN" sz="1600" b="1" dirty="0">
                <a:latin typeface="Book Antiqua" panose="02040602050305030304" pitchFamily="18" charset="0"/>
              </a:rPr>
              <a:t>Billing</a:t>
            </a:r>
            <a:r>
              <a:rPr lang="en-IN" sz="1600" dirty="0">
                <a:latin typeface="Book Antiqua" panose="02040602050305030304" pitchFamily="18" charset="0"/>
              </a:rPr>
              <a:t> - Stores billing information for each patient.</a:t>
            </a:r>
          </a:p>
          <a:p>
            <a:r>
              <a:rPr lang="en-IN" sz="1600" b="1" dirty="0">
                <a:latin typeface="Book Antiqua" panose="02040602050305030304" pitchFamily="18" charset="0"/>
              </a:rPr>
              <a:t>Diagnoses</a:t>
            </a:r>
            <a:r>
              <a:rPr lang="en-IN" sz="1600" dirty="0">
                <a:latin typeface="Book Antiqua" panose="02040602050305030304" pitchFamily="18" charset="0"/>
              </a:rPr>
              <a:t> - </a:t>
            </a:r>
            <a:r>
              <a:rPr lang="en-US" sz="1600" dirty="0">
                <a:latin typeface="Book Antiqua" panose="02040602050305030304" pitchFamily="18" charset="0"/>
              </a:rPr>
              <a:t>Records diagnoses given to patients.</a:t>
            </a:r>
            <a:endParaRPr lang="en-IN" sz="1600" dirty="0">
              <a:latin typeface="Book Antiqua" panose="02040602050305030304" pitchFamily="18" charset="0"/>
            </a:endParaRPr>
          </a:p>
          <a:p>
            <a:r>
              <a:rPr lang="en-IN" sz="1600" b="1" dirty="0">
                <a:latin typeface="Book Antiqua" panose="02040602050305030304" pitchFamily="18" charset="0"/>
              </a:rPr>
              <a:t>Medications</a:t>
            </a:r>
            <a:r>
              <a:rPr lang="en-IN" sz="1600" dirty="0">
                <a:latin typeface="Book Antiqua" panose="02040602050305030304" pitchFamily="18" charset="0"/>
              </a:rPr>
              <a:t> - </a:t>
            </a:r>
            <a:r>
              <a:rPr lang="en-US" sz="1600" dirty="0">
                <a:latin typeface="Book Antiqua" panose="02040602050305030304" pitchFamily="18" charset="0"/>
              </a:rPr>
              <a:t>Manages information about medicines prescribed.</a:t>
            </a:r>
          </a:p>
          <a:p>
            <a:r>
              <a:rPr lang="en-IN" sz="1600" b="1" dirty="0">
                <a:latin typeface="Book Antiqua" panose="02040602050305030304" pitchFamily="18" charset="0"/>
              </a:rPr>
              <a:t>Patients</a:t>
            </a:r>
            <a:r>
              <a:rPr lang="en-IN" sz="1600" dirty="0">
                <a:latin typeface="Book Antiqua" panose="02040602050305030304" pitchFamily="18" charset="0"/>
              </a:rPr>
              <a:t> – Stores patient details.</a:t>
            </a:r>
          </a:p>
          <a:p>
            <a:pPr marL="0" indent="0">
              <a:buNone/>
            </a:pPr>
            <a:endParaRPr lang="en-IN" sz="1600" dirty="0">
              <a:latin typeface="Book Antiqua" panose="02040602050305030304" pitchFamily="18" charset="0"/>
            </a:endParaRPr>
          </a:p>
          <a:p>
            <a:pPr marL="0" indent="0">
              <a:buNone/>
            </a:pPr>
            <a:endParaRPr lang="en-IN" sz="1600" dirty="0">
              <a:latin typeface="Book Antiqua" panose="02040602050305030304" pitchFamily="18" charset="0"/>
            </a:endParaRPr>
          </a:p>
          <a:p>
            <a:endParaRPr lang="en-IN" sz="1600" dirty="0">
              <a:latin typeface="Book Antiqua" panose="0204060205030503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407EDAF-8BDF-7D13-4848-4CF23065025E}"/>
              </a:ext>
            </a:extLst>
          </p:cNvPr>
          <p:cNvSpPr txBox="1">
            <a:spLocks/>
          </p:cNvSpPr>
          <p:nvPr/>
        </p:nvSpPr>
        <p:spPr>
          <a:xfrm>
            <a:off x="381000" y="-9144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b="1" dirty="0">
                <a:latin typeface="Book Antiqua" panose="02040602050305030304" pitchFamily="18" charset="0"/>
              </a:rPr>
              <a:t>Database Design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A10005-0F1E-E4E6-181B-618D8CA51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D0D84-539B-4681-ADF0-183B7BB4E9ED}" type="slidenum">
              <a:rPr lang="en-IN" smtClean="0"/>
              <a:t>6</a:t>
            </a:fld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7F6443-768D-92CC-B1CB-301D3BF3544B}"/>
              </a:ext>
            </a:extLst>
          </p:cNvPr>
          <p:cNvSpPr txBox="1"/>
          <p:nvPr/>
        </p:nvSpPr>
        <p:spPr>
          <a:xfrm>
            <a:off x="10396728" y="6048573"/>
            <a:ext cx="14447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B050"/>
                </a:solidFill>
                <a:latin typeface="Book Antiqua" panose="02040602050305030304" pitchFamily="18" charset="0"/>
                <a:hlinkClick r:id="rId2" action="ppaction://hlinksldjump"/>
              </a:rPr>
              <a:t>Go to Contents</a:t>
            </a:r>
            <a:endParaRPr lang="en-IN" sz="1400" dirty="0">
              <a:solidFill>
                <a:srgbClr val="00B050"/>
              </a:solidFill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0956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6E15C-9BE1-0CD2-DCE7-A6F40CF9E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8320" y="538861"/>
            <a:ext cx="7886700" cy="860170"/>
          </a:xfrm>
        </p:spPr>
        <p:txBody>
          <a:bodyPr>
            <a:noAutofit/>
          </a:bodyPr>
          <a:lstStyle/>
          <a:p>
            <a:br>
              <a:rPr lang="en-IN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9834E64-6944-8A95-DCF7-6F69A4578D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016" y="1280158"/>
            <a:ext cx="9649967" cy="5240165"/>
          </a:xfrm>
          <a:ln>
            <a:solidFill>
              <a:schemeClr val="tx1"/>
            </a:solidFill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882ABCA-1EBF-C6E5-36A2-C3BDEB2D8447}"/>
              </a:ext>
            </a:extLst>
          </p:cNvPr>
          <p:cNvSpPr txBox="1">
            <a:spLocks/>
          </p:cNvSpPr>
          <p:nvPr/>
        </p:nvSpPr>
        <p:spPr>
          <a:xfrm>
            <a:off x="262128" y="-1499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b="1" dirty="0">
                <a:latin typeface="Book Antiqua" panose="02040602050305030304" pitchFamily="18" charset="0"/>
              </a:rPr>
              <a:t>ER Diagram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D8B908-044C-2133-CEF6-EB61FD74B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D0D84-539B-4681-ADF0-183B7BB4E9ED}" type="slidenum">
              <a:rPr lang="en-IN" smtClean="0"/>
              <a:t>7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A44F27-DFC0-FEFC-2441-4399A1766E15}"/>
              </a:ext>
            </a:extLst>
          </p:cNvPr>
          <p:cNvSpPr txBox="1"/>
          <p:nvPr/>
        </p:nvSpPr>
        <p:spPr>
          <a:xfrm>
            <a:off x="10920983" y="6108192"/>
            <a:ext cx="12710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B050"/>
                </a:solidFill>
                <a:latin typeface="Book Antiqua" panose="02040602050305030304" pitchFamily="18" charset="0"/>
                <a:hlinkClick r:id="rId3" action="ppaction://hlinksldjump"/>
              </a:rPr>
              <a:t>Go to Contents</a:t>
            </a:r>
            <a:endParaRPr lang="en-IN" sz="1200" dirty="0">
              <a:solidFill>
                <a:srgbClr val="00B050"/>
              </a:solidFill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05567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E6792-8976-17FC-B370-D5917BF1D4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1150" y="1563624"/>
            <a:ext cx="5330234" cy="422571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b="1" dirty="0">
                <a:latin typeface="Book Antiqua" panose="02040602050305030304" pitchFamily="18" charset="0"/>
              </a:rPr>
              <a:t>Triggers</a:t>
            </a:r>
            <a:r>
              <a:rPr lang="en-IN" sz="2000" dirty="0">
                <a:latin typeface="Book Antiqua" panose="02040602050305030304" pitchFamily="18" charset="0"/>
              </a:rPr>
              <a:t>:</a:t>
            </a:r>
          </a:p>
          <a:p>
            <a:pPr lvl="1"/>
            <a:r>
              <a:rPr lang="en-IN" sz="1800" dirty="0">
                <a:latin typeface="Book Antiqua" panose="02040602050305030304" pitchFamily="18" charset="0"/>
              </a:rPr>
              <a:t>Update room status on admit/discharge.</a:t>
            </a:r>
          </a:p>
          <a:p>
            <a:pPr lvl="1"/>
            <a:r>
              <a:rPr lang="en-IN" sz="1800" dirty="0">
                <a:latin typeface="Book Antiqua" panose="02040602050305030304" pitchFamily="18" charset="0"/>
              </a:rPr>
              <a:t>Deduct medicine stock when prescribed.</a:t>
            </a:r>
          </a:p>
          <a:p>
            <a:pPr lvl="1"/>
            <a:r>
              <a:rPr lang="en-US" altLang="en-US" sz="1800" dirty="0">
                <a:latin typeface="Book Antiqua" panose="02040602050305030304" pitchFamily="18" charset="0"/>
              </a:rPr>
              <a:t>U</a:t>
            </a:r>
            <a:r>
              <a:rPr lang="en-IN" sz="1800" dirty="0">
                <a:latin typeface="Book Antiqua" panose="02040602050305030304" pitchFamily="18" charset="0"/>
              </a:rPr>
              <a:t>pdate billing when patient discharged.</a:t>
            </a:r>
          </a:p>
          <a:p>
            <a:pPr lvl="1"/>
            <a:r>
              <a:rPr lang="en-IN" sz="1800" dirty="0">
                <a:latin typeface="Book Antiqua" panose="02040602050305030304" pitchFamily="18" charset="0"/>
              </a:rPr>
              <a:t>Notify doctor on critical vitals.</a:t>
            </a:r>
          </a:p>
          <a:p>
            <a:pPr marL="457200" lvl="1" indent="0">
              <a:buNone/>
            </a:pPr>
            <a:endParaRPr lang="en-IN" sz="1800" dirty="0">
              <a:latin typeface="Book Antiqua" panose="02040602050305030304" pitchFamily="18" charset="0"/>
            </a:endParaRPr>
          </a:p>
          <a:p>
            <a:pPr marL="0" indent="0">
              <a:buNone/>
            </a:pPr>
            <a:r>
              <a:rPr lang="en-IN" sz="2000" b="1" dirty="0">
                <a:latin typeface="Book Antiqua" panose="02040602050305030304" pitchFamily="18" charset="0"/>
              </a:rPr>
              <a:t>Procedures</a:t>
            </a:r>
            <a:r>
              <a:rPr lang="en-IN" sz="2000" dirty="0">
                <a:latin typeface="Book Antiqua" panose="02040602050305030304" pitchFamily="18" charset="0"/>
              </a:rPr>
              <a:t>:</a:t>
            </a:r>
          </a:p>
          <a:p>
            <a:pPr lvl="1"/>
            <a:r>
              <a:rPr lang="en-IN" sz="1800" dirty="0">
                <a:latin typeface="Book Antiqua" panose="02040602050305030304" pitchFamily="18" charset="0"/>
              </a:rPr>
              <a:t>Schedule appointment.</a:t>
            </a:r>
          </a:p>
          <a:p>
            <a:pPr lvl="1"/>
            <a:r>
              <a:rPr lang="en-IN" sz="1800" dirty="0">
                <a:latin typeface="Book Antiqua" panose="02040602050305030304" pitchFamily="18" charset="0"/>
              </a:rPr>
              <a:t>Generate monthly reports</a:t>
            </a:r>
            <a:r>
              <a:rPr lang="en-IN" sz="1600" dirty="0">
                <a:latin typeface="Bodoni MT" panose="02070603080606020203" pitchFamily="18" charset="0"/>
              </a:rPr>
              <a:t>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84958D-A470-9755-E6C8-404D21D2B6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01384" y="1416132"/>
            <a:ext cx="6020640" cy="38782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latin typeface="Book Antiqua" panose="02040602050305030304" pitchFamily="18" charset="0"/>
              </a:rPr>
              <a:t>Constraints</a:t>
            </a:r>
            <a:r>
              <a:rPr lang="en-IN" sz="2000" dirty="0">
                <a:latin typeface="Book Antiqua" panose="02040602050305030304" pitchFamily="18" charset="0"/>
              </a:rPr>
              <a:t>:</a:t>
            </a:r>
          </a:p>
          <a:p>
            <a:pPr lvl="1"/>
            <a:r>
              <a:rPr lang="en-US" sz="1800" dirty="0">
                <a:latin typeface="Book Antiqua" panose="02040602050305030304" pitchFamily="18" charset="0"/>
              </a:rPr>
              <a:t>Primary Key → Uniqueness</a:t>
            </a:r>
          </a:p>
          <a:p>
            <a:pPr lvl="1"/>
            <a:r>
              <a:rPr lang="en-US" sz="1800" dirty="0">
                <a:latin typeface="Book Antiqua" panose="02040602050305030304" pitchFamily="18" charset="0"/>
              </a:rPr>
              <a:t>Foreign Key → Relationships</a:t>
            </a:r>
          </a:p>
          <a:p>
            <a:pPr lvl="1"/>
            <a:r>
              <a:rPr lang="en-US" sz="1800" dirty="0">
                <a:latin typeface="Book Antiqua" panose="02040602050305030304" pitchFamily="18" charset="0"/>
              </a:rPr>
              <a:t>Default → Pre-set values</a:t>
            </a:r>
          </a:p>
          <a:p>
            <a:pPr lvl="1"/>
            <a:r>
              <a:rPr lang="en-US" sz="1800" dirty="0">
                <a:latin typeface="Book Antiqua" panose="02040602050305030304" pitchFamily="18" charset="0"/>
              </a:rPr>
              <a:t>Check → Enforces rules (e.g., </a:t>
            </a:r>
            <a:r>
              <a:rPr lang="en-IN" sz="1800" dirty="0">
                <a:latin typeface="Book Antiqua" panose="02040602050305030304" pitchFamily="18" charset="0"/>
              </a:rPr>
              <a:t>stock </a:t>
            </a:r>
            <a:r>
              <a:rPr lang="en-US" sz="1800" dirty="0">
                <a:latin typeface="Book Antiqua" panose="02040602050305030304" pitchFamily="18" charset="0"/>
              </a:rPr>
              <a:t>&gt;= 0)</a:t>
            </a:r>
          </a:p>
          <a:p>
            <a:pPr marL="457200" lvl="1" indent="0">
              <a:buNone/>
            </a:pPr>
            <a:endParaRPr lang="en-IN" sz="1600" dirty="0">
              <a:latin typeface="Bodoni MT" panose="02070603080606020203" pitchFamily="18" charset="0"/>
            </a:endParaRPr>
          </a:p>
          <a:p>
            <a:pPr marL="0" indent="0">
              <a:buNone/>
            </a:pPr>
            <a:r>
              <a:rPr lang="en-IN" sz="2000" b="1" dirty="0">
                <a:latin typeface="Book Antiqua" panose="02040602050305030304" pitchFamily="18" charset="0"/>
              </a:rPr>
              <a:t>Indexes</a:t>
            </a:r>
            <a:r>
              <a:rPr lang="en-IN" sz="2000" dirty="0">
                <a:latin typeface="Book Antiqua" panose="02040602050305030304" pitchFamily="18" charset="0"/>
              </a:rPr>
              <a:t>: </a:t>
            </a:r>
          </a:p>
          <a:p>
            <a:pPr lvl="1"/>
            <a:r>
              <a:rPr lang="en-IN" sz="1800" dirty="0">
                <a:latin typeface="Book Antiqua" panose="02040602050305030304" pitchFamily="18" charset="0"/>
              </a:rPr>
              <a:t>Fasten query outputs</a:t>
            </a:r>
          </a:p>
          <a:p>
            <a:pPr marL="0" indent="0">
              <a:buNone/>
            </a:pPr>
            <a:endParaRPr lang="en-IN" sz="2400" dirty="0">
              <a:latin typeface="Bodoni MT" panose="02070603080606020203" pitchFamily="18" charset="0"/>
            </a:endParaRPr>
          </a:p>
          <a:p>
            <a:pPr marL="0" indent="0">
              <a:buNone/>
            </a:pPr>
            <a:r>
              <a:rPr lang="en-IN" sz="2000" b="1" dirty="0">
                <a:latin typeface="Book Antiqua" panose="02040602050305030304" pitchFamily="18" charset="0"/>
              </a:rPr>
              <a:t>Security</a:t>
            </a:r>
            <a:r>
              <a:rPr lang="en-IN" sz="2000" dirty="0">
                <a:latin typeface="Book Antiqua" panose="02040602050305030304" pitchFamily="18" charset="0"/>
              </a:rPr>
              <a:t>:</a:t>
            </a:r>
          </a:p>
          <a:p>
            <a:pPr lvl="1"/>
            <a:r>
              <a:rPr lang="en-IN" sz="1800" dirty="0">
                <a:latin typeface="Book Antiqua" panose="02040602050305030304" pitchFamily="18" charset="0"/>
              </a:rPr>
              <a:t>Role-based access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60B0D93-E8C0-640D-3F1B-B26B893C9FED}"/>
              </a:ext>
            </a:extLst>
          </p:cNvPr>
          <p:cNvSpPr txBox="1">
            <a:spLocks/>
          </p:cNvSpPr>
          <p:nvPr/>
        </p:nvSpPr>
        <p:spPr>
          <a:xfrm>
            <a:off x="271150" y="0"/>
            <a:ext cx="7055380" cy="12252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b="1" dirty="0">
                <a:latin typeface="Book Antiqua" panose="02040602050305030304" pitchFamily="18" charset="0"/>
              </a:rPr>
              <a:t>Advanced Features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9D05FF-42A6-6D4D-C56E-785A2DBCD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D0D84-539B-4681-ADF0-183B7BB4E9ED}" type="slidenum">
              <a:rPr lang="en-IN" smtClean="0"/>
              <a:t>8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1FB4B1-2DF3-448E-FBB9-88895A9F01AE}"/>
              </a:ext>
            </a:extLst>
          </p:cNvPr>
          <p:cNvSpPr txBox="1"/>
          <p:nvPr/>
        </p:nvSpPr>
        <p:spPr>
          <a:xfrm>
            <a:off x="10396728" y="6048573"/>
            <a:ext cx="14447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B050"/>
                </a:solidFill>
                <a:latin typeface="Book Antiqua" panose="02040602050305030304" pitchFamily="18" charset="0"/>
                <a:hlinkClick r:id="rId2" action="ppaction://hlinksldjump"/>
              </a:rPr>
              <a:t>Go to Contents</a:t>
            </a:r>
            <a:endParaRPr lang="en-IN" sz="1400" dirty="0">
              <a:solidFill>
                <a:srgbClr val="00B050"/>
              </a:solidFill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8296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01081-FF30-88EF-AC12-F43C4DD4A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76A67-51FF-D5B8-969D-D8F833002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812" y="308609"/>
            <a:ext cx="5241798" cy="315911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Book Antiqua" panose="02040602050305030304" pitchFamily="18" charset="0"/>
              </a:rPr>
              <a:t>Business Requirements</a:t>
            </a:r>
            <a:endParaRPr lang="en-IN" sz="3200" b="1" dirty="0">
              <a:latin typeface="Book Antiqua" panose="020406020503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3D7FE7-F493-FA8B-C70E-E5FC63101B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6666" y="808909"/>
            <a:ext cx="3895343" cy="4452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600" b="1" dirty="0">
                <a:latin typeface="Book Antiqua" panose="02040602050305030304" pitchFamily="18" charset="0"/>
              </a:rPr>
              <a:t>1. </a:t>
            </a:r>
            <a:r>
              <a:rPr lang="en-IN" sz="1600" dirty="0">
                <a:latin typeface="Book Antiqua" panose="02040602050305030304" pitchFamily="18" charset="0"/>
              </a:rPr>
              <a:t>Patient Visits (last 6 months)</a:t>
            </a:r>
          </a:p>
          <a:p>
            <a:pPr marL="0" indent="0">
              <a:buNone/>
            </a:pPr>
            <a:endParaRPr lang="en-IN" sz="1600" b="1" dirty="0">
              <a:latin typeface="Book Antiqua" panose="0204060205030503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en-IN" sz="1600" b="1" dirty="0">
              <a:latin typeface="Book Antiqua" panose="0204060205030503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en-IN" sz="1600" b="1" dirty="0">
              <a:latin typeface="Book Antiqua" panose="0204060205030503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en-IN" sz="1600" dirty="0">
              <a:latin typeface="Book Antiqua" panose="0204060205030503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EDE8BF1-AE6F-2D79-11F3-BD4BE0768C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77" y="5659865"/>
            <a:ext cx="3492679" cy="106685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5B756BA-2004-8A9C-42F6-63A05F404F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124" y="3153301"/>
            <a:ext cx="3549832" cy="93984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A7CB3D2-7218-E788-939A-DCA5C75BE4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812" y="4694357"/>
            <a:ext cx="4540483" cy="28576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472270B-19C3-DE74-FD7C-02A4F62CE5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39" y="1237869"/>
            <a:ext cx="4445228" cy="130181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07799706-8CEA-968E-92C7-8129BCE38FD6}"/>
              </a:ext>
            </a:extLst>
          </p:cNvPr>
          <p:cNvSpPr txBox="1"/>
          <p:nvPr/>
        </p:nvSpPr>
        <p:spPr>
          <a:xfrm>
            <a:off x="256666" y="2687213"/>
            <a:ext cx="49005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Book Antiqua" panose="02040602050305030304" pitchFamily="18" charset="0"/>
              </a:rPr>
              <a:t>2. </a:t>
            </a:r>
            <a:r>
              <a:rPr lang="en-IN" sz="1600" dirty="0">
                <a:latin typeface="Book Antiqua" panose="02040602050305030304" pitchFamily="18" charset="0"/>
              </a:rPr>
              <a:t>Doctors with specialization and  patients count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B43D3A4-EDDA-ADF5-E11D-0CAC052CC7E3}"/>
              </a:ext>
            </a:extLst>
          </p:cNvPr>
          <p:cNvSpPr txBox="1"/>
          <p:nvPr/>
        </p:nvSpPr>
        <p:spPr>
          <a:xfrm>
            <a:off x="256666" y="4252465"/>
            <a:ext cx="44658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Book Antiqua" panose="02040602050305030304" pitchFamily="18" charset="0"/>
              </a:rPr>
              <a:t>3. </a:t>
            </a:r>
            <a:r>
              <a:rPr lang="en-IN" sz="1600" dirty="0">
                <a:latin typeface="Book Antiqua" panose="02040602050305030304" pitchFamily="18" charset="0"/>
              </a:rPr>
              <a:t>Appointments for Dr. Mehta on 2024-03-15</a:t>
            </a:r>
          </a:p>
          <a:p>
            <a:endParaRPr lang="en-IN" sz="1600" dirty="0">
              <a:latin typeface="Book Antiqua" panose="0204060205030503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D641199-E912-B457-94F1-F1DA99D2C1D4}"/>
              </a:ext>
            </a:extLst>
          </p:cNvPr>
          <p:cNvSpPr txBox="1"/>
          <p:nvPr/>
        </p:nvSpPr>
        <p:spPr>
          <a:xfrm>
            <a:off x="303124" y="5108776"/>
            <a:ext cx="45404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Book Antiqua" panose="02040602050305030304" pitchFamily="18" charset="0"/>
              </a:rPr>
              <a:t>4. </a:t>
            </a:r>
            <a:r>
              <a:rPr lang="en-IN" sz="1600" dirty="0">
                <a:latin typeface="Book Antiqua" panose="02040602050305030304" pitchFamily="18" charset="0"/>
              </a:rPr>
              <a:t>Patients admitted &gt; 10 days + total bill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8BA797-59B0-E76D-78A7-0E164F5318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9740" y="1131655"/>
            <a:ext cx="4168660" cy="165121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D7A231F-9F41-7566-768F-1CAF36A53C47}"/>
              </a:ext>
            </a:extLst>
          </p:cNvPr>
          <p:cNvSpPr txBox="1"/>
          <p:nvPr/>
        </p:nvSpPr>
        <p:spPr>
          <a:xfrm>
            <a:off x="5889740" y="764110"/>
            <a:ext cx="38231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Book Antiqua" panose="02040602050305030304" pitchFamily="18" charset="0"/>
              </a:rPr>
              <a:t>5. </a:t>
            </a:r>
            <a:r>
              <a:rPr lang="en-IN" sz="1600" dirty="0">
                <a:latin typeface="Book Antiqua" panose="02040602050305030304" pitchFamily="18" charset="0"/>
              </a:rPr>
              <a:t>Rooms and occupancy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2EF355-D5DF-1EDC-3DA6-D25AFEA50869}"/>
              </a:ext>
            </a:extLst>
          </p:cNvPr>
          <p:cNvSpPr txBox="1"/>
          <p:nvPr/>
        </p:nvSpPr>
        <p:spPr>
          <a:xfrm>
            <a:off x="5817586" y="2979600"/>
            <a:ext cx="43799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latin typeface="Bodoni MT" panose="02070603080606020203" pitchFamily="18" charset="0"/>
              </a:defRPr>
            </a:lvl1pPr>
          </a:lstStyle>
          <a:p>
            <a:r>
              <a:rPr lang="en-IN" b="1" dirty="0">
                <a:latin typeface="Book Antiqua" panose="02040602050305030304" pitchFamily="18" charset="0"/>
              </a:rPr>
              <a:t>6. </a:t>
            </a:r>
            <a:r>
              <a:rPr lang="en-IN" dirty="0">
                <a:latin typeface="Book Antiqua" panose="02040602050305030304" pitchFamily="18" charset="0"/>
              </a:rPr>
              <a:t>Medical history of a patient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A3F45C-ECD6-4F70-49A9-00D7FC8EE1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27876" y="3387860"/>
            <a:ext cx="6264124" cy="29421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64E264B-0154-03AD-272C-B37759FA5726}"/>
              </a:ext>
            </a:extLst>
          </p:cNvPr>
          <p:cNvSpPr txBox="1"/>
          <p:nvPr/>
        </p:nvSpPr>
        <p:spPr>
          <a:xfrm>
            <a:off x="5889740" y="4154199"/>
            <a:ext cx="43799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latin typeface="Bodoni MT" panose="02070603080606020203" pitchFamily="18" charset="0"/>
              </a:defRPr>
            </a:lvl1pPr>
          </a:lstStyle>
          <a:p>
            <a:r>
              <a:rPr lang="en-IN" b="1" dirty="0">
                <a:latin typeface="Book Antiqua" panose="02040602050305030304" pitchFamily="18" charset="0"/>
              </a:rPr>
              <a:t>7. </a:t>
            </a:r>
            <a:r>
              <a:rPr lang="en-IN" dirty="0">
                <a:latin typeface="Book Antiqua" panose="02040602050305030304" pitchFamily="18" charset="0"/>
              </a:rPr>
              <a:t>Emergency visits last month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B698E0-49E9-79D9-4AA9-EBA8FC833E5A}"/>
              </a:ext>
            </a:extLst>
          </p:cNvPr>
          <p:cNvSpPr txBox="1"/>
          <p:nvPr/>
        </p:nvSpPr>
        <p:spPr>
          <a:xfrm>
            <a:off x="5817586" y="5388483"/>
            <a:ext cx="47254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latin typeface="Bodoni MT" panose="02070603080606020203" pitchFamily="18" charset="0"/>
              </a:defRPr>
            </a:lvl1pPr>
          </a:lstStyle>
          <a:p>
            <a:r>
              <a:rPr lang="en-IN" b="1" dirty="0">
                <a:latin typeface="Book Antiqua" panose="02040602050305030304" pitchFamily="18" charset="0"/>
              </a:rPr>
              <a:t>8. </a:t>
            </a:r>
            <a:r>
              <a:rPr lang="en-IN" dirty="0">
                <a:latin typeface="Book Antiqua" panose="02040602050305030304" pitchFamily="18" charset="0"/>
              </a:rPr>
              <a:t>Patients prescribed Amoxicillin (last 3 months)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8B54C76-2737-B1AB-4CE0-CA15627D647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27876" y="4637494"/>
            <a:ext cx="3359323" cy="46357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6C2F9BE-FB2C-2AD3-B757-A56B613E52C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71530" y="5760522"/>
            <a:ext cx="2025754" cy="42547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F0DD00D-F795-1211-8B5F-78E2FD432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D0D84-539B-4681-ADF0-183B7BB4E9ED}" type="slidenum">
              <a:rPr lang="en-IN" smtClean="0"/>
              <a:t>9</a:t>
            </a:fld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C04257-8B04-E183-9D1B-F44F4DC58556}"/>
              </a:ext>
            </a:extLst>
          </p:cNvPr>
          <p:cNvSpPr txBox="1"/>
          <p:nvPr/>
        </p:nvSpPr>
        <p:spPr>
          <a:xfrm>
            <a:off x="10396728" y="6048573"/>
            <a:ext cx="14447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B050"/>
                </a:solidFill>
                <a:latin typeface="Book Antiqua" panose="02040602050305030304" pitchFamily="18" charset="0"/>
                <a:hlinkClick r:id="rId10" action="ppaction://hlinksldjump"/>
              </a:rPr>
              <a:t>Go to Contents</a:t>
            </a:r>
            <a:endParaRPr lang="en-IN" sz="1400" dirty="0">
              <a:solidFill>
                <a:srgbClr val="00B050"/>
              </a:solidFill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06518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69B57-F661-D021-A817-B7FEB0D6F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666" y="389279"/>
            <a:ext cx="8454138" cy="282099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Book Antiqua" panose="02040602050305030304" pitchFamily="18" charset="0"/>
              </a:rPr>
              <a:t>Business Requirements continued..</a:t>
            </a:r>
            <a:endParaRPr lang="en-IN" sz="3200" b="1" dirty="0">
              <a:latin typeface="Book Antiqua" panose="020406020503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EB616-BAB3-8271-8B3E-735E1198FE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6666" y="1090172"/>
            <a:ext cx="3895343" cy="1363963"/>
          </a:xfr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IN" sz="1600" b="1" dirty="0">
                <a:latin typeface="Book Antiqua" panose="02040602050305030304" pitchFamily="18" charset="0"/>
              </a:rPr>
              <a:t>9. </a:t>
            </a:r>
            <a:r>
              <a:rPr lang="en-IN" sz="1600" dirty="0">
                <a:latin typeface="Book Antiqua" panose="02040602050305030304" pitchFamily="18" charset="0"/>
              </a:rPr>
              <a:t>Pending medical test reports</a:t>
            </a:r>
          </a:p>
          <a:p>
            <a:pPr marL="0"/>
            <a:endParaRPr lang="en-IN" sz="1600" dirty="0">
              <a:latin typeface="Book Antiqua" panose="02040602050305030304" pitchFamily="18" charset="0"/>
            </a:endParaRPr>
          </a:p>
          <a:p>
            <a:pPr marL="0"/>
            <a:endParaRPr lang="en-IN" sz="1600" dirty="0">
              <a:latin typeface="Book Antiqua" panose="02040602050305030304" pitchFamily="18" charset="0"/>
            </a:endParaRPr>
          </a:p>
          <a:p>
            <a:pPr marL="0"/>
            <a:endParaRPr lang="en-IN" sz="1600" dirty="0">
              <a:latin typeface="Book Antiqua" panose="02040602050305030304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3EF0A2C-7420-E9F4-9322-5D2FA729E1FA}"/>
              </a:ext>
            </a:extLst>
          </p:cNvPr>
          <p:cNvSpPr txBox="1"/>
          <p:nvPr/>
        </p:nvSpPr>
        <p:spPr>
          <a:xfrm>
            <a:off x="256666" y="2547646"/>
            <a:ext cx="4863599" cy="314445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>
                <a:latin typeface="Bodoni MT" panose="02070603080606020203" pitchFamily="18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IN" b="1" dirty="0">
                <a:latin typeface="Book Antiqua" panose="02040602050305030304" pitchFamily="18" charset="0"/>
              </a:rPr>
              <a:t>10. </a:t>
            </a:r>
            <a:r>
              <a:rPr lang="en-IN" dirty="0">
                <a:latin typeface="Book Antiqua" panose="02040602050305030304" pitchFamily="18" charset="0"/>
              </a:rPr>
              <a:t>Department with most admissions (last year)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CFEA400-B7CE-A790-B76F-E23774D0AD8A}"/>
              </a:ext>
            </a:extLst>
          </p:cNvPr>
          <p:cNvSpPr txBox="1"/>
          <p:nvPr/>
        </p:nvSpPr>
        <p:spPr>
          <a:xfrm>
            <a:off x="256666" y="3693786"/>
            <a:ext cx="4928095" cy="316497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>
                <a:latin typeface="Bodoni MT" panose="02070603080606020203" pitchFamily="18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IN" b="1" dirty="0">
                <a:latin typeface="Book Antiqua" panose="02040602050305030304" pitchFamily="18" charset="0"/>
              </a:rPr>
              <a:t>11. </a:t>
            </a:r>
            <a:r>
              <a:rPr lang="en-IN" dirty="0">
                <a:latin typeface="Book Antiqua" panose="02040602050305030304" pitchFamily="18" charset="0"/>
              </a:rPr>
              <a:t>Patients visiting multiple doctors for same illness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E6FEA1-FF72-964C-9CEE-35484C673E08}"/>
              </a:ext>
            </a:extLst>
          </p:cNvPr>
          <p:cNvSpPr txBox="1"/>
          <p:nvPr/>
        </p:nvSpPr>
        <p:spPr>
          <a:xfrm>
            <a:off x="5927876" y="1074969"/>
            <a:ext cx="38231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Book Antiqua" panose="02040602050305030304" pitchFamily="18" charset="0"/>
              </a:rPr>
              <a:t>13. </a:t>
            </a:r>
            <a:r>
              <a:rPr lang="en-IN" sz="1600" dirty="0">
                <a:latin typeface="Book Antiqua" panose="02040602050305030304" pitchFamily="18" charset="0"/>
              </a:rPr>
              <a:t>Surgeries in last 6 months (by type)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00BD33-E36B-FD72-A159-F8D1F9D5CC0D}"/>
              </a:ext>
            </a:extLst>
          </p:cNvPr>
          <p:cNvSpPr txBox="1"/>
          <p:nvPr/>
        </p:nvSpPr>
        <p:spPr>
          <a:xfrm>
            <a:off x="5969591" y="2346242"/>
            <a:ext cx="43799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latin typeface="Bodoni MT" panose="02070603080606020203" pitchFamily="18" charset="0"/>
              </a:defRPr>
            </a:lvl1pPr>
          </a:lstStyle>
          <a:p>
            <a:r>
              <a:rPr lang="en-IN" b="1" dirty="0">
                <a:latin typeface="Book Antiqua" panose="02040602050305030304" pitchFamily="18" charset="0"/>
              </a:rPr>
              <a:t>14. </a:t>
            </a:r>
            <a:r>
              <a:rPr lang="en-IN" dirty="0">
                <a:latin typeface="Book Antiqua" panose="02040602050305030304" pitchFamily="18" charset="0"/>
              </a:rPr>
              <a:t>Prescriptions by a doctor (date range)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62D448-0BC7-5126-5125-EFFA91DD64FE}"/>
              </a:ext>
            </a:extLst>
          </p:cNvPr>
          <p:cNvSpPr txBox="1"/>
          <p:nvPr/>
        </p:nvSpPr>
        <p:spPr>
          <a:xfrm>
            <a:off x="6096000" y="3702464"/>
            <a:ext cx="43799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latin typeface="Bodoni MT" panose="02070603080606020203" pitchFamily="18" charset="0"/>
              </a:defRPr>
            </a:lvl1pPr>
          </a:lstStyle>
          <a:p>
            <a:r>
              <a:rPr lang="en-IN" b="1" dirty="0">
                <a:latin typeface="Book Antiqua" panose="02040602050305030304" pitchFamily="18" charset="0"/>
              </a:rPr>
              <a:t>15. </a:t>
            </a:r>
            <a:r>
              <a:rPr lang="en-IN" dirty="0">
                <a:latin typeface="Book Antiqua" panose="02040602050305030304" pitchFamily="18" charset="0"/>
              </a:rPr>
              <a:t>Most common illness</a:t>
            </a:r>
          </a:p>
          <a:p>
            <a:endParaRPr lang="en-IN" dirty="0">
              <a:latin typeface="Book Antiqua" panose="0204060205030503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4BEBDC-C86A-C967-19AD-513A2840104C}"/>
              </a:ext>
            </a:extLst>
          </p:cNvPr>
          <p:cNvSpPr txBox="1"/>
          <p:nvPr/>
        </p:nvSpPr>
        <p:spPr>
          <a:xfrm>
            <a:off x="6096000" y="4778242"/>
            <a:ext cx="49809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latin typeface="Bodoni MT" panose="02070603080606020203" pitchFamily="18" charset="0"/>
              </a:defRPr>
            </a:lvl1pPr>
          </a:lstStyle>
          <a:p>
            <a:r>
              <a:rPr lang="en-IN" b="1" dirty="0">
                <a:latin typeface="Book Antiqua" panose="02040602050305030304" pitchFamily="18" charset="0"/>
              </a:rPr>
              <a:t>16.</a:t>
            </a:r>
            <a:r>
              <a:rPr lang="en-IN" dirty="0">
                <a:latin typeface="Book Antiqua" panose="02040602050305030304" pitchFamily="18" charset="0"/>
              </a:rPr>
              <a:t> Revenue report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84C3D11-AE47-74FE-59E2-EF6FB18700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323" y="1474019"/>
            <a:ext cx="4711942" cy="82554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6397F8F-CC13-B64E-E53A-DE6B5FE485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323" y="3008425"/>
            <a:ext cx="1866996" cy="42547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FF934ED-D4C5-21E9-8C80-2DC28A4101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323" y="4079211"/>
            <a:ext cx="3626036" cy="53977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237A60F-CBB9-A827-9C73-9E546C74F02B}"/>
              </a:ext>
            </a:extLst>
          </p:cNvPr>
          <p:cNvSpPr txBox="1"/>
          <p:nvPr/>
        </p:nvSpPr>
        <p:spPr>
          <a:xfrm>
            <a:off x="256666" y="4923366"/>
            <a:ext cx="6094476" cy="316497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>
                <a:latin typeface="Bodoni MT" panose="02070603080606020203" pitchFamily="18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IN" b="1" dirty="0">
                <a:latin typeface="Book Antiqua" panose="02040602050305030304" pitchFamily="18" charset="0"/>
              </a:rPr>
              <a:t>12. </a:t>
            </a:r>
            <a:r>
              <a:rPr lang="en-IN" dirty="0">
                <a:latin typeface="Book Antiqua" panose="02040602050305030304" pitchFamily="18" charset="0"/>
              </a:rPr>
              <a:t>Staff in Cardiology dept with shift timings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7080961-14E0-FE44-7784-392829F359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001" y="5283876"/>
            <a:ext cx="3600635" cy="52072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3DAABE0-F58B-615A-0A50-18D3A47BB9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1783" y="1443412"/>
            <a:ext cx="1847945" cy="55247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DA7B118-1E68-C292-E7BE-F30EECD459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1783" y="2908973"/>
            <a:ext cx="3492679" cy="57788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C3070B5-9AE0-38D3-BFA8-D6D37683DC3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142" y="4086984"/>
            <a:ext cx="1606633" cy="44452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E6B0F69A-D3AA-FE14-1297-616AFF7CF9F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51142" y="5332283"/>
            <a:ext cx="2559182" cy="53342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00952A-D190-6385-02AA-7E93BC340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D0D84-539B-4681-ADF0-183B7BB4E9ED}" type="slidenum">
              <a:rPr lang="en-IN" smtClean="0"/>
              <a:t>10</a:t>
            </a:fld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C744EB-4240-55E4-FA4B-D084E5FC456C}"/>
              </a:ext>
            </a:extLst>
          </p:cNvPr>
          <p:cNvSpPr txBox="1"/>
          <p:nvPr/>
        </p:nvSpPr>
        <p:spPr>
          <a:xfrm>
            <a:off x="10396728" y="6048573"/>
            <a:ext cx="14447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B050"/>
                </a:solidFill>
                <a:latin typeface="Book Antiqua" panose="02040602050305030304" pitchFamily="18" charset="0"/>
                <a:hlinkClick r:id="rId10" action="ppaction://hlinksldjump"/>
              </a:rPr>
              <a:t>Go to Contents</a:t>
            </a:r>
            <a:endParaRPr lang="en-IN" sz="1400" dirty="0">
              <a:solidFill>
                <a:srgbClr val="00B050"/>
              </a:solidFill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79446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E7859-A678-A41B-821E-286B3FC5B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BC9B5-893C-FE01-E581-4E7B9C8FF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693" y="259283"/>
            <a:ext cx="8454138" cy="282099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Book Antiqua" panose="02040602050305030304" pitchFamily="18" charset="0"/>
              </a:rPr>
              <a:t>Business Requirements continued..</a:t>
            </a:r>
            <a:endParaRPr lang="en-IN" sz="3200" b="1" dirty="0">
              <a:latin typeface="Book Antiqua" panose="020406020503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2C199F-8981-3094-7566-4EF23BA835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4599" y="724412"/>
            <a:ext cx="3895343" cy="315599"/>
          </a:xfr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IN" sz="1600" b="1" dirty="0">
                <a:latin typeface="Book Antiqua" panose="02040602050305030304" pitchFamily="18" charset="0"/>
              </a:rPr>
              <a:t>17</a:t>
            </a:r>
            <a:r>
              <a:rPr lang="en-IN" sz="1600" dirty="0">
                <a:latin typeface="Book Antiqua" panose="02040602050305030304" pitchFamily="18" charset="0"/>
              </a:rPr>
              <a:t>. Update bill on discharge (Trigger)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857ECB7-C2ED-490D-58F8-305EFE8CF8E1}"/>
              </a:ext>
            </a:extLst>
          </p:cNvPr>
          <p:cNvSpPr txBox="1"/>
          <p:nvPr/>
        </p:nvSpPr>
        <p:spPr>
          <a:xfrm>
            <a:off x="384599" y="3742554"/>
            <a:ext cx="4475987" cy="316497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>
                <a:latin typeface="Bodoni MT" panose="02070603080606020203" pitchFamily="18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IN" b="1" dirty="0">
                <a:latin typeface="Book Antiqua" panose="02040602050305030304" pitchFamily="18" charset="0"/>
              </a:rPr>
              <a:t>18. </a:t>
            </a:r>
            <a:r>
              <a:rPr lang="en-IN" dirty="0">
                <a:latin typeface="Book Antiqua" panose="02040602050305030304" pitchFamily="18" charset="0"/>
              </a:rPr>
              <a:t>Notify doctors on critical vitals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823187-46BB-DC1B-F711-217596E20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D0D84-539B-4681-ADF0-183B7BB4E9ED}" type="slidenum">
              <a:rPr lang="en-IN" smtClean="0"/>
              <a:t>11</a:t>
            </a:fld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9E72E3-BA6D-0C46-45C5-CECE254186D4}"/>
              </a:ext>
            </a:extLst>
          </p:cNvPr>
          <p:cNvSpPr txBox="1"/>
          <p:nvPr/>
        </p:nvSpPr>
        <p:spPr>
          <a:xfrm>
            <a:off x="10396728" y="6048573"/>
            <a:ext cx="14447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B050"/>
                </a:solidFill>
                <a:latin typeface="Book Antiqua" panose="02040602050305030304" pitchFamily="18" charset="0"/>
                <a:hlinkClick r:id="rId2" action="ppaction://hlinksldjump"/>
              </a:rPr>
              <a:t>Go to Contents</a:t>
            </a:r>
            <a:endParaRPr lang="en-IN" sz="1400" dirty="0">
              <a:solidFill>
                <a:srgbClr val="00B050"/>
              </a:solidFill>
              <a:latin typeface="Book Antiqua" panose="0204060205030503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A59030A-5F21-3E9D-865C-6E7280DBE5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183" y="1278320"/>
            <a:ext cx="3511730" cy="168283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4008BDD-DCB8-E01A-0554-2B4078E940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9819" y="1163160"/>
            <a:ext cx="3530781" cy="185429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9ABF9F9-8EF5-C8EC-5034-EB377F28D1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11" y="4285643"/>
            <a:ext cx="4121362" cy="184794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BA80752-06EC-D4B5-CEB4-746BE470DC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94524" y="4195758"/>
            <a:ext cx="4102311" cy="200670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2CC037CB-3512-9AF6-E437-010FCF3F4DF3}"/>
              </a:ext>
            </a:extLst>
          </p:cNvPr>
          <p:cNvSpPr txBox="1"/>
          <p:nvPr/>
        </p:nvSpPr>
        <p:spPr>
          <a:xfrm>
            <a:off x="1645920" y="3060965"/>
            <a:ext cx="21579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Before update</a:t>
            </a:r>
            <a:endParaRPr lang="en-IN" sz="1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AEB140D-15AB-6055-FF4A-0DD469E027BE}"/>
              </a:ext>
            </a:extLst>
          </p:cNvPr>
          <p:cNvSpPr txBox="1"/>
          <p:nvPr/>
        </p:nvSpPr>
        <p:spPr>
          <a:xfrm>
            <a:off x="6052205" y="3079594"/>
            <a:ext cx="21579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After update</a:t>
            </a:r>
            <a:endParaRPr lang="en-IN" sz="1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75475D2-F1DA-8E05-E2BD-46C108F6A963}"/>
              </a:ext>
            </a:extLst>
          </p:cNvPr>
          <p:cNvSpPr txBox="1"/>
          <p:nvPr/>
        </p:nvSpPr>
        <p:spPr>
          <a:xfrm>
            <a:off x="1282367" y="6133588"/>
            <a:ext cx="21579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Before insert on vitals</a:t>
            </a:r>
            <a:endParaRPr lang="en-IN" sz="1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108C2F1-D938-A546-170F-19DF98606541}"/>
              </a:ext>
            </a:extLst>
          </p:cNvPr>
          <p:cNvSpPr txBox="1"/>
          <p:nvPr/>
        </p:nvSpPr>
        <p:spPr>
          <a:xfrm>
            <a:off x="6266688" y="6174332"/>
            <a:ext cx="21579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After insert on vitals</a:t>
            </a:r>
            <a:endParaRPr lang="en-IN" sz="12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2777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E9527-21B3-583F-16F8-2B6C8A909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461F3-7FCC-2BB9-8095-40312FFA9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693" y="259283"/>
            <a:ext cx="8454138" cy="282099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Book Antiqua" panose="02040602050305030304" pitchFamily="18" charset="0"/>
              </a:rPr>
              <a:t>Business Requirements continued..</a:t>
            </a:r>
            <a:endParaRPr lang="en-IN" sz="3200" b="1" dirty="0">
              <a:latin typeface="Book Antiqua" panose="0204060205030503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9AA16D-3640-02CD-6AA8-980CAEEC3660}"/>
              </a:ext>
            </a:extLst>
          </p:cNvPr>
          <p:cNvSpPr txBox="1"/>
          <p:nvPr/>
        </p:nvSpPr>
        <p:spPr>
          <a:xfrm>
            <a:off x="397063" y="2137114"/>
            <a:ext cx="6094476" cy="316497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>
                <a:latin typeface="Bodoni MT" panose="02070603080606020203" pitchFamily="18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IN" b="1" dirty="0">
                <a:latin typeface="Book Antiqua" panose="02040602050305030304" pitchFamily="18" charset="0"/>
              </a:rPr>
              <a:t>20. </a:t>
            </a:r>
            <a:r>
              <a:rPr lang="en-IN" dirty="0">
                <a:latin typeface="Book Antiqua" panose="02040602050305030304" pitchFamily="18" charset="0"/>
              </a:rPr>
              <a:t>Update room availability on admit/discharge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F0A8B8-EB6F-6F5E-2606-76511ECE3800}"/>
              </a:ext>
            </a:extLst>
          </p:cNvPr>
          <p:cNvSpPr txBox="1"/>
          <p:nvPr/>
        </p:nvSpPr>
        <p:spPr>
          <a:xfrm>
            <a:off x="333055" y="866003"/>
            <a:ext cx="4928095" cy="316497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>
                <a:latin typeface="Bodoni MT" panose="02070603080606020203" pitchFamily="18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IN" b="1" dirty="0">
                <a:latin typeface="Book Antiqua" panose="02040602050305030304" pitchFamily="18" charset="0"/>
              </a:rPr>
              <a:t>19. </a:t>
            </a:r>
            <a:r>
              <a:rPr lang="en-IN" dirty="0">
                <a:latin typeface="Book Antiqua" panose="02040602050305030304" pitchFamily="18" charset="0"/>
              </a:rPr>
              <a:t>Prevent duplicate patient records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F893A513-8DC2-2C24-25BD-C11AD2D635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574" y="1305801"/>
            <a:ext cx="5697965" cy="40264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BD84BD-23F6-73C2-F927-18DD3A759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D0D84-539B-4681-ADF0-183B7BB4E9ED}" type="slidenum">
              <a:rPr lang="en-IN" smtClean="0"/>
              <a:t>12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14FD6B-CF18-F835-D6AE-FCEB32DD2077}"/>
              </a:ext>
            </a:extLst>
          </p:cNvPr>
          <p:cNvSpPr txBox="1"/>
          <p:nvPr/>
        </p:nvSpPr>
        <p:spPr>
          <a:xfrm>
            <a:off x="10396728" y="6048573"/>
            <a:ext cx="14447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B050"/>
                </a:solidFill>
                <a:latin typeface="Book Antiqua" panose="02040602050305030304" pitchFamily="18" charset="0"/>
                <a:hlinkClick r:id="rId3" action="ppaction://hlinksldjump"/>
              </a:rPr>
              <a:t>Go to Contents</a:t>
            </a:r>
            <a:endParaRPr lang="en-IN" sz="1400" dirty="0">
              <a:solidFill>
                <a:srgbClr val="00B050"/>
              </a:solidFill>
              <a:latin typeface="Book Antiqua" panose="0204060205030503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03BF612-1B17-77FE-0558-45130533DB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574" y="2663055"/>
            <a:ext cx="4121362" cy="165743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9C8D2CC-3D50-F930-E41D-26AFE5D5C6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7138" y="2625245"/>
            <a:ext cx="4115011" cy="165743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7A7CC05-28F9-2C07-DC58-5C531A4BD310}"/>
              </a:ext>
            </a:extLst>
          </p:cNvPr>
          <p:cNvSpPr txBox="1"/>
          <p:nvPr/>
        </p:nvSpPr>
        <p:spPr>
          <a:xfrm>
            <a:off x="1038083" y="4391434"/>
            <a:ext cx="30266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accent1">
                    <a:lumMod val="75000"/>
                  </a:schemeClr>
                </a:solidFill>
              </a:rPr>
              <a:t>Before insert on admissions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F714E5-BDC0-9841-EE95-15F7BC7CD299}"/>
              </a:ext>
            </a:extLst>
          </p:cNvPr>
          <p:cNvSpPr txBox="1"/>
          <p:nvPr/>
        </p:nvSpPr>
        <p:spPr>
          <a:xfrm>
            <a:off x="6112735" y="4282680"/>
            <a:ext cx="30266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accent1">
                    <a:lumMod val="75000"/>
                  </a:schemeClr>
                </a:solidFill>
              </a:rPr>
              <a:t>After insert on admissions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ACF0C95-E036-C230-A6ED-E01F8F7DE6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4739377"/>
            <a:ext cx="4102311" cy="166378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C00C6D4-39D3-100F-DB13-649EF89B510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54290" y="4759910"/>
            <a:ext cx="4057859" cy="160663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7CD22ABB-A418-008C-A822-EC3E493E3E7B}"/>
              </a:ext>
            </a:extLst>
          </p:cNvPr>
          <p:cNvSpPr txBox="1"/>
          <p:nvPr/>
        </p:nvSpPr>
        <p:spPr>
          <a:xfrm>
            <a:off x="1283770" y="6426103"/>
            <a:ext cx="30266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accent1">
                    <a:lumMod val="75000"/>
                  </a:schemeClr>
                </a:solidFill>
              </a:rPr>
              <a:t>Before update on admissions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675096C-C430-1B72-E0D3-937EB2CB3813}"/>
              </a:ext>
            </a:extLst>
          </p:cNvPr>
          <p:cNvSpPr txBox="1"/>
          <p:nvPr/>
        </p:nvSpPr>
        <p:spPr>
          <a:xfrm>
            <a:off x="6096000" y="6393229"/>
            <a:ext cx="30266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accent1">
                    <a:lumMod val="75000"/>
                  </a:schemeClr>
                </a:solidFill>
              </a:rPr>
              <a:t>After update on admissions</a:t>
            </a:r>
          </a:p>
        </p:txBody>
      </p:sp>
    </p:spTree>
    <p:extLst>
      <p:ext uri="{BB962C8B-B14F-4D97-AF65-F5344CB8AC3E}">
        <p14:creationId xmlns:p14="http://schemas.microsoft.com/office/powerpoint/2010/main" val="20841241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F1E03-A76C-8466-1147-9E63066EC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96364-05A3-8733-1C71-6184BA50A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374" y="337224"/>
            <a:ext cx="8454138" cy="282099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Book Antiqua" panose="02040602050305030304" pitchFamily="18" charset="0"/>
              </a:rPr>
              <a:t>Business Requirements continued..</a:t>
            </a:r>
            <a:endParaRPr lang="en-IN" sz="3200" b="1" dirty="0">
              <a:latin typeface="Book Antiqua" panose="0204060205030503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60A326-44BA-41FA-89A9-65D5CE6BC1D1}"/>
              </a:ext>
            </a:extLst>
          </p:cNvPr>
          <p:cNvSpPr txBox="1"/>
          <p:nvPr/>
        </p:nvSpPr>
        <p:spPr>
          <a:xfrm>
            <a:off x="395748" y="855473"/>
            <a:ext cx="49215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Book Antiqua" panose="02040602050305030304" pitchFamily="18" charset="0"/>
              </a:rPr>
              <a:t>21. </a:t>
            </a:r>
            <a:r>
              <a:rPr lang="en-IN" sz="1600" dirty="0">
                <a:latin typeface="Book Antiqua" panose="02040602050305030304" pitchFamily="18" charset="0"/>
              </a:rPr>
              <a:t>Verify medicine availability before prescribing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C6A34E-7E19-B8E1-7493-DD7D7143EBDC}"/>
              </a:ext>
            </a:extLst>
          </p:cNvPr>
          <p:cNvSpPr txBox="1"/>
          <p:nvPr/>
        </p:nvSpPr>
        <p:spPr>
          <a:xfrm>
            <a:off x="429276" y="1907144"/>
            <a:ext cx="65628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latin typeface="Bodoni MT" panose="02070603080606020203" pitchFamily="18" charset="0"/>
              </a:defRPr>
            </a:lvl1pPr>
          </a:lstStyle>
          <a:p>
            <a:r>
              <a:rPr lang="en-IN" b="1" dirty="0">
                <a:latin typeface="Book Antiqua" panose="02040602050305030304" pitchFamily="18" charset="0"/>
              </a:rPr>
              <a:t>22. </a:t>
            </a:r>
            <a:r>
              <a:rPr lang="en-IN" dirty="0">
                <a:latin typeface="Book Antiqua" panose="02040602050305030304" pitchFamily="18" charset="0"/>
              </a:rPr>
              <a:t>Role-based security (only authorized staff can update records)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CDC6C7-A1B1-C139-7DC2-C5930ADD19D2}"/>
              </a:ext>
            </a:extLst>
          </p:cNvPr>
          <p:cNvSpPr txBox="1"/>
          <p:nvPr/>
        </p:nvSpPr>
        <p:spPr>
          <a:xfrm>
            <a:off x="666511" y="3537884"/>
            <a:ext cx="43799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latin typeface="Bodoni MT" panose="02070603080606020203" pitchFamily="18" charset="0"/>
              </a:defRPr>
            </a:lvl1pPr>
          </a:lstStyle>
          <a:p>
            <a:r>
              <a:rPr lang="en-IN" b="1" dirty="0">
                <a:latin typeface="Book Antiqua" panose="02040602050305030304" pitchFamily="18" charset="0"/>
              </a:rPr>
              <a:t>23. </a:t>
            </a:r>
            <a:r>
              <a:rPr lang="en-IN" dirty="0">
                <a:latin typeface="Book Antiqua" panose="02040602050305030304" pitchFamily="18" charset="0"/>
              </a:rPr>
              <a:t>Alert for missed follow-ups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617B199-C0F2-1081-6485-D66E17EDE6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660" y="2535723"/>
            <a:ext cx="4921503" cy="71123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7E6D52E-8ACE-33FD-F676-F81220904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D0D84-539B-4681-ADF0-183B7BB4E9ED}" type="slidenum">
              <a:rPr lang="en-IN" smtClean="0"/>
              <a:t>13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240A3F-805C-3686-FEE8-27B4ABC69E11}"/>
              </a:ext>
            </a:extLst>
          </p:cNvPr>
          <p:cNvSpPr txBox="1"/>
          <p:nvPr/>
        </p:nvSpPr>
        <p:spPr>
          <a:xfrm>
            <a:off x="10396728" y="6048573"/>
            <a:ext cx="14447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B050"/>
                </a:solidFill>
                <a:latin typeface="Book Antiqua" panose="02040602050305030304" pitchFamily="18" charset="0"/>
                <a:hlinkClick r:id="rId3" action="ppaction://hlinksldjump"/>
              </a:rPr>
              <a:t>Go to Contents</a:t>
            </a:r>
            <a:endParaRPr lang="en-IN" sz="1400" dirty="0">
              <a:solidFill>
                <a:srgbClr val="00B050"/>
              </a:solidFill>
              <a:latin typeface="Book Antiqua" panose="0204060205030503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BBD0960-FE38-939E-F0D9-9362B47A4C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660" y="1381271"/>
            <a:ext cx="7467984" cy="15875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7A2304B-7143-7AF8-CFBE-ED7FD96BA8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3011" y="4214991"/>
            <a:ext cx="4045158" cy="141612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7DC35FA-7175-D97D-89B4-A47D9348F9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223" y="4348347"/>
            <a:ext cx="4045158" cy="114940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AA25392-33E3-2319-81D2-E457583A4ECA}"/>
              </a:ext>
            </a:extLst>
          </p:cNvPr>
          <p:cNvSpPr txBox="1"/>
          <p:nvPr/>
        </p:nvSpPr>
        <p:spPr>
          <a:xfrm>
            <a:off x="1103076" y="5631114"/>
            <a:ext cx="3465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accent1">
                    <a:lumMod val="75000"/>
                  </a:schemeClr>
                </a:solidFill>
              </a:rPr>
              <a:t>Before insert into appointments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35F8A0-1D0C-18ED-F786-C8B7C2B7D66F}"/>
              </a:ext>
            </a:extLst>
          </p:cNvPr>
          <p:cNvSpPr txBox="1"/>
          <p:nvPr/>
        </p:nvSpPr>
        <p:spPr>
          <a:xfrm>
            <a:off x="6356850" y="5716732"/>
            <a:ext cx="3465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accent1">
                    <a:lumMod val="75000"/>
                  </a:schemeClr>
                </a:solidFill>
              </a:rPr>
              <a:t>After insert into appointments </a:t>
            </a:r>
          </a:p>
        </p:txBody>
      </p:sp>
    </p:spTree>
    <p:extLst>
      <p:ext uri="{BB962C8B-B14F-4D97-AF65-F5344CB8AC3E}">
        <p14:creationId xmlns:p14="http://schemas.microsoft.com/office/powerpoint/2010/main" val="40968390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D1ED9-D2BC-19A0-0E53-457C1BB4C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96179-8BE8-103F-9B89-9080793CA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374" y="337224"/>
            <a:ext cx="8454138" cy="282099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Book Antiqua" panose="02040602050305030304" pitchFamily="18" charset="0"/>
              </a:rPr>
              <a:t>Business Requirements continued..</a:t>
            </a:r>
            <a:endParaRPr lang="en-IN" sz="3200" b="1" dirty="0">
              <a:latin typeface="Book Antiqua" panose="0204060205030503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AC2BEB-82D9-BD55-EF5C-E4DA34E4B03B}"/>
              </a:ext>
            </a:extLst>
          </p:cNvPr>
          <p:cNvSpPr txBox="1"/>
          <p:nvPr/>
        </p:nvSpPr>
        <p:spPr>
          <a:xfrm>
            <a:off x="438428" y="978628"/>
            <a:ext cx="49809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latin typeface="Bodoni MT" panose="02070603080606020203" pitchFamily="18" charset="0"/>
              </a:defRPr>
            </a:lvl1pPr>
          </a:lstStyle>
          <a:p>
            <a:r>
              <a:rPr lang="en-IN" b="1" dirty="0">
                <a:latin typeface="Book Antiqua" panose="02040602050305030304" pitchFamily="18" charset="0"/>
              </a:rPr>
              <a:t>24. </a:t>
            </a:r>
            <a:r>
              <a:rPr lang="en-IN" dirty="0">
                <a:latin typeface="Book Antiqua" panose="02040602050305030304" pitchFamily="18" charset="0"/>
              </a:rPr>
              <a:t>Update inventory on supply received</a:t>
            </a:r>
          </a:p>
          <a:p>
            <a:r>
              <a:rPr lang="en-IN" dirty="0">
                <a:latin typeface="Book Antiqua" panose="02040602050305030304" pitchFamily="18" charset="0"/>
              </a:rPr>
              <a:t>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1E1BDF-A576-C38B-B3E4-B6267F717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D0D84-539B-4681-ADF0-183B7BB4E9ED}" type="slidenum">
              <a:rPr lang="en-IN" smtClean="0"/>
              <a:t>14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37F622-8973-C8D9-591E-18B82B64E2FD}"/>
              </a:ext>
            </a:extLst>
          </p:cNvPr>
          <p:cNvSpPr txBox="1"/>
          <p:nvPr/>
        </p:nvSpPr>
        <p:spPr>
          <a:xfrm>
            <a:off x="10396728" y="6048573"/>
            <a:ext cx="14447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B050"/>
                </a:solidFill>
                <a:latin typeface="Book Antiqua" panose="02040602050305030304" pitchFamily="18" charset="0"/>
                <a:hlinkClick r:id="rId2" action="ppaction://hlinksldjump"/>
              </a:rPr>
              <a:t>Go to Contents</a:t>
            </a:r>
            <a:endParaRPr lang="en-IN" sz="1400" dirty="0">
              <a:solidFill>
                <a:srgbClr val="00B050"/>
              </a:solidFill>
              <a:latin typeface="Book Antiqua" panose="0204060205030503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81EB85-7C42-918C-0593-7ACDF9BC7C04}"/>
              </a:ext>
            </a:extLst>
          </p:cNvPr>
          <p:cNvSpPr txBox="1"/>
          <p:nvPr/>
        </p:nvSpPr>
        <p:spPr>
          <a:xfrm>
            <a:off x="740663" y="3998793"/>
            <a:ext cx="43134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Book Antiqua" panose="02040602050305030304" pitchFamily="18" charset="0"/>
              </a:rPr>
              <a:t>25. </a:t>
            </a:r>
            <a:r>
              <a:rPr lang="en-US" sz="1600" dirty="0">
                <a:latin typeface="Book Antiqua" panose="02040602050305030304" pitchFamily="18" charset="0"/>
              </a:rPr>
              <a:t>Monthly summary of patient admissions, treatments, and medical trends.</a:t>
            </a:r>
            <a:endParaRPr lang="en-IN" sz="1600" dirty="0">
              <a:latin typeface="Book Antiqua" panose="0204060205030503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C50B008-6057-F69B-3397-8C3B07AD1C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897" y="4866368"/>
            <a:ext cx="3333921" cy="67313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ED15D4B-A699-0AF4-84C9-7083889616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769" y="1519061"/>
            <a:ext cx="2400423" cy="182889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6D24D70-4CE9-CDCA-66E6-9D86CBE30A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8175" y="1519235"/>
            <a:ext cx="2228965" cy="19686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C01CA36-85BB-702A-3110-0A8A0693AB83}"/>
              </a:ext>
            </a:extLst>
          </p:cNvPr>
          <p:cNvSpPr txBox="1"/>
          <p:nvPr/>
        </p:nvSpPr>
        <p:spPr>
          <a:xfrm>
            <a:off x="1015769" y="3465704"/>
            <a:ext cx="26426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Before insert on </a:t>
            </a:r>
            <a:r>
              <a:rPr lang="en-US" sz="1200" dirty="0" err="1">
                <a:solidFill>
                  <a:schemeClr val="accent1">
                    <a:lumMod val="75000"/>
                  </a:schemeClr>
                </a:solidFill>
              </a:rPr>
              <a:t>supply_orders</a:t>
            </a:r>
            <a:endParaRPr lang="en-IN" sz="1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4BC319-1B39-7376-5C59-03C5EAAAFCDA}"/>
              </a:ext>
            </a:extLst>
          </p:cNvPr>
          <p:cNvSpPr txBox="1"/>
          <p:nvPr/>
        </p:nvSpPr>
        <p:spPr>
          <a:xfrm>
            <a:off x="5758757" y="3487836"/>
            <a:ext cx="26426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After insert on </a:t>
            </a:r>
            <a:r>
              <a:rPr lang="en-US" sz="1200" dirty="0" err="1">
                <a:solidFill>
                  <a:schemeClr val="accent1">
                    <a:lumMod val="75000"/>
                  </a:schemeClr>
                </a:solidFill>
              </a:rPr>
              <a:t>supply_orders</a:t>
            </a:r>
            <a:endParaRPr lang="en-IN" sz="12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10184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B3FE2-4EA8-9B6E-A8C4-DAA92DB72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9E5B6-F339-BF3B-E8D7-79BCD4CCA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670" y="382960"/>
            <a:ext cx="8454138" cy="282099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Book Antiqua" panose="02040602050305030304" pitchFamily="18" charset="0"/>
              </a:rPr>
              <a:t>Business Requirements continued..</a:t>
            </a:r>
            <a:endParaRPr lang="en-IN" sz="3200" b="1" dirty="0">
              <a:latin typeface="Book Antiqua" panose="0204060205030503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A7A069-411F-06D4-E6AC-67DBCE911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D0D84-539B-4681-ADF0-183B7BB4E9ED}" type="slidenum">
              <a:rPr lang="en-IN" smtClean="0"/>
              <a:t>15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FDDDE5-67B4-CF85-1A09-88B7C00A4120}"/>
              </a:ext>
            </a:extLst>
          </p:cNvPr>
          <p:cNvSpPr txBox="1"/>
          <p:nvPr/>
        </p:nvSpPr>
        <p:spPr>
          <a:xfrm>
            <a:off x="10396728" y="6048573"/>
            <a:ext cx="14447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B050"/>
                </a:solidFill>
                <a:latin typeface="Book Antiqua" panose="02040602050305030304" pitchFamily="18" charset="0"/>
                <a:hlinkClick r:id="rId2" action="ppaction://hlinksldjump"/>
              </a:rPr>
              <a:t>Go to Contents</a:t>
            </a:r>
            <a:endParaRPr lang="en-IN" sz="1400" dirty="0">
              <a:solidFill>
                <a:srgbClr val="00B050"/>
              </a:solidFill>
              <a:latin typeface="Book Antiqua" panose="0204060205030503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D585D3B-8795-E56D-2597-5A49F7FCD02F}"/>
              </a:ext>
            </a:extLst>
          </p:cNvPr>
          <p:cNvSpPr txBox="1"/>
          <p:nvPr/>
        </p:nvSpPr>
        <p:spPr>
          <a:xfrm>
            <a:off x="296670" y="1013805"/>
            <a:ext cx="43799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latin typeface="Bodoni MT" panose="02070603080606020203" pitchFamily="18" charset="0"/>
              </a:defRPr>
            </a:lvl1pPr>
          </a:lstStyle>
          <a:p>
            <a:r>
              <a:rPr lang="en-IN" dirty="0">
                <a:latin typeface="Book Antiqua" panose="02040602050305030304" pitchFamily="18" charset="0"/>
              </a:rPr>
              <a:t>26. </a:t>
            </a:r>
            <a:r>
              <a:rPr lang="en-US" dirty="0">
                <a:latin typeface="Book Antiqua" panose="02040602050305030304" pitchFamily="18" charset="0"/>
              </a:rPr>
              <a:t>Final bill auto-updated on discharge</a:t>
            </a:r>
            <a:endParaRPr lang="en-IN" dirty="0">
              <a:latin typeface="Book Antiqua" panose="02040602050305030304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EAF2565-6957-AAEC-6BA8-943C119742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784" y="1766672"/>
            <a:ext cx="3511730" cy="168283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003B326-1E96-1B57-E948-65735F82D2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0009" y="1713651"/>
            <a:ext cx="3530781" cy="185429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EF4A54C-8B6E-0F24-8FA7-7CD5D8C73910}"/>
              </a:ext>
            </a:extLst>
          </p:cNvPr>
          <p:cNvSpPr txBox="1"/>
          <p:nvPr/>
        </p:nvSpPr>
        <p:spPr>
          <a:xfrm>
            <a:off x="1716521" y="3549317"/>
            <a:ext cx="21579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Before update</a:t>
            </a:r>
            <a:endParaRPr lang="en-IN" sz="1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DD59CB-7579-0042-E766-38AD68956E64}"/>
              </a:ext>
            </a:extLst>
          </p:cNvPr>
          <p:cNvSpPr txBox="1"/>
          <p:nvPr/>
        </p:nvSpPr>
        <p:spPr>
          <a:xfrm>
            <a:off x="6122806" y="3567946"/>
            <a:ext cx="21579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After update</a:t>
            </a:r>
            <a:endParaRPr lang="en-IN" sz="12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06168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74BC72-C4AF-7522-7215-6E6A9924B0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792" y="1316737"/>
            <a:ext cx="10850738" cy="4983480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 Antiqua" panose="02040602050305030304" pitchFamily="18" charset="0"/>
              </a:rPr>
              <a:t> Centralizes patient, doctor, appointment, billing &amp; pharmacy data.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 Antiqua" panose="02040602050305030304" pitchFamily="18" charset="0"/>
              </a:rPr>
              <a:t> Minimizes errors and duplication, improves efficiency.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 Antiqua" panose="02040602050305030304" pitchFamily="18" charset="0"/>
              </a:rPr>
              <a:t> Automates room allocation, inventory, and alerts.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 Antiqua" panose="02040602050305030304" pitchFamily="18" charset="0"/>
              </a:rPr>
              <a:t> Ensures data integrity, security &amp; real-time access.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 Antiqua" panose="02040602050305030304" pitchFamily="18" charset="0"/>
              </a:rPr>
              <a:t> Provides reports &amp; insights for better management.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 Antiqua" panose="02040602050305030304" pitchFamily="18" charset="0"/>
              </a:rPr>
              <a:t> Makes healthcare management more accurate, efficient &amp; reliable.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dirty="0">
              <a:latin typeface="Book Antiqua" panose="02040602050305030304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C728F3F-8CB5-321E-D6F2-1CF5461C2CA4}"/>
              </a:ext>
            </a:extLst>
          </p:cNvPr>
          <p:cNvSpPr txBox="1">
            <a:spLocks/>
          </p:cNvSpPr>
          <p:nvPr/>
        </p:nvSpPr>
        <p:spPr>
          <a:xfrm>
            <a:off x="307848" y="91440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Book Antiqua" panose="02040602050305030304" pitchFamily="18" charset="0"/>
              </a:rPr>
              <a:t>Conclusion</a:t>
            </a:r>
            <a:endParaRPr lang="en-IN" sz="3600" b="1" dirty="0">
              <a:latin typeface="Book Antiqua" panose="0204060205030503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3BB3C68-2D8B-7F24-629C-81CED963C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D0D84-539B-4681-ADF0-183B7BB4E9ED}" type="slidenum">
              <a:rPr lang="en-IN" smtClean="0"/>
              <a:t>16</a:t>
            </a:fld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2B1CF6-6140-91E8-5C51-15DFA978E863}"/>
              </a:ext>
            </a:extLst>
          </p:cNvPr>
          <p:cNvSpPr txBox="1"/>
          <p:nvPr/>
        </p:nvSpPr>
        <p:spPr>
          <a:xfrm>
            <a:off x="10396728" y="6048573"/>
            <a:ext cx="14447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B050"/>
                </a:solidFill>
                <a:latin typeface="Book Antiqua" panose="02040602050305030304" pitchFamily="18" charset="0"/>
                <a:hlinkClick r:id="rId2" action="ppaction://hlinksldjump"/>
              </a:rPr>
              <a:t>Go to Contents</a:t>
            </a:r>
            <a:endParaRPr lang="en-IN" sz="1400" dirty="0">
              <a:solidFill>
                <a:srgbClr val="00B050"/>
              </a:solidFill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50879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C3642-17F9-D8D5-E468-16EA90A18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87" y="275643"/>
            <a:ext cx="7055380" cy="926602"/>
          </a:xfrm>
        </p:spPr>
        <p:txBody>
          <a:bodyPr>
            <a:noAutofit/>
          </a:bodyPr>
          <a:lstStyle/>
          <a:p>
            <a:br>
              <a:rPr lang="en-US" sz="3600" b="1" dirty="0">
                <a:latin typeface="Book Antiqua" panose="02040602050305030304" pitchFamily="18" charset="0"/>
              </a:rPr>
            </a:br>
            <a:endParaRPr lang="en-IN" sz="3600" dirty="0">
              <a:latin typeface="Book Antiqua" panose="020406020503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9911F-F261-918D-8E5A-1DE5A2F1B2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888" y="1386712"/>
            <a:ext cx="11564112" cy="4611751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Book Antiqua" panose="02040602050305030304" pitchFamily="18" charset="0"/>
              </a:rPr>
              <a:t>Telemedicine Integration</a:t>
            </a:r>
            <a:r>
              <a:rPr lang="en-US" sz="2000" dirty="0">
                <a:latin typeface="Book Antiqua" panose="02040602050305030304" pitchFamily="18" charset="0"/>
              </a:rPr>
              <a:t> – Enable remote doctor consultations via video calls.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Book Antiqua" panose="02040602050305030304" pitchFamily="18" charset="0"/>
              </a:rPr>
              <a:t>Mobile Application</a:t>
            </a:r>
            <a:r>
              <a:rPr lang="en-US" sz="2000" dirty="0">
                <a:latin typeface="Book Antiqua" panose="02040602050305030304" pitchFamily="18" charset="0"/>
              </a:rPr>
              <a:t> – Provide patients and doctors with a mobile app for easy access.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Book Antiqua" panose="02040602050305030304" pitchFamily="18" charset="0"/>
              </a:rPr>
              <a:t>AI &amp; Machine Learning</a:t>
            </a:r>
            <a:r>
              <a:rPr lang="en-US" sz="2000" dirty="0">
                <a:latin typeface="Book Antiqua" panose="02040602050305030304" pitchFamily="18" charset="0"/>
              </a:rPr>
              <a:t> – Predict diseases, suggest treatments, optimize hospital resources.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Book Antiqua" panose="02040602050305030304" pitchFamily="18" charset="0"/>
              </a:rPr>
              <a:t>IoT &amp; Wearable Devices</a:t>
            </a:r>
            <a:r>
              <a:rPr lang="en-US" sz="2000" dirty="0">
                <a:latin typeface="Book Antiqua" panose="02040602050305030304" pitchFamily="18" charset="0"/>
              </a:rPr>
              <a:t> – Connect patient health data (heart rate, BP, glucose) directly to HMS.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Book Antiqua" panose="02040602050305030304" pitchFamily="18" charset="0"/>
              </a:rPr>
              <a:t>Cloud Deployment</a:t>
            </a:r>
            <a:r>
              <a:rPr lang="en-US" sz="2000" dirty="0">
                <a:latin typeface="Book Antiqua" panose="02040602050305030304" pitchFamily="18" charset="0"/>
              </a:rPr>
              <a:t> – Allow scalable, anytime-anywhere access to hospital data.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Book Antiqua" panose="02040602050305030304" pitchFamily="18" charset="0"/>
              </a:rPr>
              <a:t>Blockchain for Records</a:t>
            </a:r>
            <a:r>
              <a:rPr lang="en-US" sz="2000" dirty="0">
                <a:latin typeface="Book Antiqua" panose="02040602050305030304" pitchFamily="18" charset="0"/>
              </a:rPr>
              <a:t> – Secure patient data and enable safe sharing between hospitals.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Book Antiqua" panose="02040602050305030304" pitchFamily="18" charset="0"/>
              </a:rPr>
              <a:t>Automated Chatbots</a:t>
            </a:r>
            <a:r>
              <a:rPr lang="en-US" sz="2000" dirty="0">
                <a:latin typeface="Book Antiqua" panose="02040602050305030304" pitchFamily="18" charset="0"/>
              </a:rPr>
              <a:t> – For appointment booking, FAQs, and patient assistance.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Book Antiqua" panose="02040602050305030304" pitchFamily="18" charset="0"/>
              </a:rPr>
              <a:t>Insurance Integration</a:t>
            </a:r>
            <a:r>
              <a:rPr lang="en-US" sz="2000" dirty="0">
                <a:latin typeface="Book Antiqua" panose="02040602050305030304" pitchFamily="18" charset="0"/>
              </a:rPr>
              <a:t> – Direct claim processing with health insurance providers.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Book Antiqua" panose="02040602050305030304" pitchFamily="18" charset="0"/>
              </a:rPr>
              <a:t>Multi-Hospital Networking</a:t>
            </a:r>
            <a:r>
              <a:rPr lang="en-US" sz="2000" dirty="0">
                <a:latin typeface="Book Antiqua" panose="02040602050305030304" pitchFamily="18" charset="0"/>
              </a:rPr>
              <a:t> – Centralized system for chain hospitals and health networks.</a:t>
            </a:r>
            <a:endParaRPr lang="en-IN" sz="2000" dirty="0">
              <a:latin typeface="Book Antiqua" panose="0204060205030503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8372DF7-5D97-E825-78E5-4BBFE987E840}"/>
              </a:ext>
            </a:extLst>
          </p:cNvPr>
          <p:cNvSpPr txBox="1">
            <a:spLocks/>
          </p:cNvSpPr>
          <p:nvPr/>
        </p:nvSpPr>
        <p:spPr>
          <a:xfrm>
            <a:off x="307848" y="91440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Book Antiqua" panose="02040602050305030304" pitchFamily="18" charset="0"/>
              </a:rPr>
              <a:t>Future Scope</a:t>
            </a:r>
            <a:endParaRPr lang="en-IN" sz="3600" b="1" dirty="0">
              <a:latin typeface="Book Antiqua" panose="0204060205030503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2479F6-2F39-AD36-C357-3CB0E213B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D0D84-539B-4681-ADF0-183B7BB4E9ED}" type="slidenum">
              <a:rPr lang="en-IN" smtClean="0"/>
              <a:t>17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A139DA-1421-75D3-5638-958405088FF4}"/>
              </a:ext>
            </a:extLst>
          </p:cNvPr>
          <p:cNvSpPr txBox="1"/>
          <p:nvPr/>
        </p:nvSpPr>
        <p:spPr>
          <a:xfrm>
            <a:off x="10396728" y="6048573"/>
            <a:ext cx="14447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B050"/>
                </a:solidFill>
                <a:latin typeface="Book Antiqua" panose="02040602050305030304" pitchFamily="18" charset="0"/>
                <a:hlinkClick r:id="rId2" action="ppaction://hlinksldjump"/>
              </a:rPr>
              <a:t>Go to Contents</a:t>
            </a:r>
            <a:endParaRPr lang="en-IN" sz="1400" dirty="0">
              <a:solidFill>
                <a:srgbClr val="00B050"/>
              </a:solidFill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14146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81300" y="2285366"/>
            <a:ext cx="5673852" cy="1994026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latin typeface="Book Antiqua" panose="02040602050305030304" pitchFamily="18" charset="0"/>
              </a:rPr>
              <a:t>THANK YOU</a:t>
            </a:r>
            <a:endParaRPr sz="5400" b="1" dirty="0">
              <a:latin typeface="Book Antiqua" panose="0204060205030503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F28895-690B-ED2C-3CE9-B5BCF5110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D0D84-539B-4681-ADF0-183B7BB4E9ED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7564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13821</TotalTime>
  <Words>1090</Words>
  <Application>Microsoft Office PowerPoint</Application>
  <PresentationFormat>Widescreen</PresentationFormat>
  <Paragraphs>186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Bodoni MT</vt:lpstr>
      <vt:lpstr>Book Antiqua</vt:lpstr>
      <vt:lpstr>Calibri</vt:lpstr>
      <vt:lpstr>Calibri Light</vt:lpstr>
      <vt:lpstr>Office Theme</vt:lpstr>
      <vt:lpstr>Hospital Management System using MySQL</vt:lpstr>
      <vt:lpstr>Contents</vt:lpstr>
      <vt:lpstr>PowerPoint Presentation</vt:lpstr>
      <vt:lpstr>PowerPoint Presentation</vt:lpstr>
      <vt:lpstr>PowerPoint Presentation</vt:lpstr>
      <vt:lpstr>  </vt:lpstr>
      <vt:lpstr> </vt:lpstr>
      <vt:lpstr>PowerPoint Presentation</vt:lpstr>
      <vt:lpstr>Business Requirements</vt:lpstr>
      <vt:lpstr>Business Requirements continued..</vt:lpstr>
      <vt:lpstr>Business Requirements continued..</vt:lpstr>
      <vt:lpstr>Business Requirements continued..</vt:lpstr>
      <vt:lpstr>Business Requirements continued..</vt:lpstr>
      <vt:lpstr>Business Requirements continued..</vt:lpstr>
      <vt:lpstr>Business Requirements continued..</vt:lpstr>
      <vt:lpstr>PowerPoint Presentation</vt:lpstr>
      <vt:lpstr>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smita negi</dc:creator>
  <cp:lastModifiedBy>KIRUHTIK A</cp:lastModifiedBy>
  <cp:revision>22</cp:revision>
  <dcterms:created xsi:type="dcterms:W3CDTF">2025-09-18T14:04:23Z</dcterms:created>
  <dcterms:modified xsi:type="dcterms:W3CDTF">2025-12-10T16:49:35Z</dcterms:modified>
</cp:coreProperties>
</file>